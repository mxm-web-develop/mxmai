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notesMasters/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547d8d6837d43fe" /><Relationship Type="http://schemas.openxmlformats.org/officeDocument/2006/relationships/extended-properties" Target="/docProps/app.xml" Id="Rab3ddb47e7cd4d93" /><Relationship Type="http://schemas.openxmlformats.org/officeDocument/2006/relationships/officeDocument" Target="/ppt/presentation.xml" Id="R717aad90789345ad" /></Relationships>
</file>

<file path=ppt/presentation.xml><?xml version="1.0" encoding="utf-8"?>
<p:presentation xmlns:p="http://schemas.openxmlformats.org/presentationml/2006/main">
  <p:sldMasterIdLst>
    <p:sldMasterId xmlns:r="http://schemas.openxmlformats.org/officeDocument/2006/relationships" id="2147483648" r:id="R6ebf828777444fa4"/>
  </p:sldMasterIdLst>
  <p:notesMasterIdLst>
    <p:notesMasterId xmlns:r="http://schemas.openxmlformats.org/officeDocument/2006/relationships" r:id="R276b27fc81254e55"/>
  </p:notesMasterIdLst>
  <p:sldIdLst>
    <p:sldId xmlns:r="http://schemas.openxmlformats.org/officeDocument/2006/relationships" id="256" r:id="R012675b1ba5b445c"/>
    <p:sldId xmlns:r="http://schemas.openxmlformats.org/officeDocument/2006/relationships" id="257" r:id="Rcc27a9ed6b4242a3"/>
    <p:sldId xmlns:r="http://schemas.openxmlformats.org/officeDocument/2006/relationships" id="258" r:id="R96bdd9440f984188"/>
    <p:sldId xmlns:r="http://schemas.openxmlformats.org/officeDocument/2006/relationships" id="259" r:id="R6a9497db71d8400b"/>
    <p:sldId xmlns:r="http://schemas.openxmlformats.org/officeDocument/2006/relationships" id="260" r:id="Reea0238a5fb04ed2"/>
    <p:sldId xmlns:r="http://schemas.openxmlformats.org/officeDocument/2006/relationships" id="261" r:id="R462701dd998449b7"/>
    <p:sldId xmlns:r="http://schemas.openxmlformats.org/officeDocument/2006/relationships" id="262" r:id="R40d3050fa5e64d0a"/>
    <p:sldId xmlns:r="http://schemas.openxmlformats.org/officeDocument/2006/relationships" id="263" r:id="Re184fc65d0ba49b4"/>
    <p:sldId xmlns:r="http://schemas.openxmlformats.org/officeDocument/2006/relationships" id="264" r:id="R23219c254e8942a7"/>
    <p:sldId xmlns:r="http://schemas.openxmlformats.org/officeDocument/2006/relationships" id="265" r:id="R00d9ec48e78d4ca6"/>
    <p:sldId xmlns:r="http://schemas.openxmlformats.org/officeDocument/2006/relationships" id="266" r:id="Rfc86b37a5e0040d7"/>
    <p:sldId xmlns:r="http://schemas.openxmlformats.org/officeDocument/2006/relationships" id="267" r:id="R62d4ee6d4a3a43d1"/>
    <p:sldId xmlns:r="http://schemas.openxmlformats.org/officeDocument/2006/relationships" id="268" r:id="Rf2689a976d304742"/>
    <p:sldId xmlns:r="http://schemas.openxmlformats.org/officeDocument/2006/relationships" id="269" r:id="R97808569664b44cd"/>
    <p:sldId xmlns:r="http://schemas.openxmlformats.org/officeDocument/2006/relationships" id="270" r:id="Re0ed50a1699147be"/>
    <p:sldId xmlns:r="http://schemas.openxmlformats.org/officeDocument/2006/relationships" id="271" r:id="R25e8dbdb35d140a9"/>
    <p:sldId xmlns:r="http://schemas.openxmlformats.org/officeDocument/2006/relationships" id="272" r:id="R89a8b3393efd4797"/>
    <p:sldId xmlns:r="http://schemas.openxmlformats.org/officeDocument/2006/relationships" id="273" r:id="Red1311ea2a364c9b"/>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normalViewPr>
    <p:restoredLeft sz="15611"/>
    <p:restoredTop sz="94658"/>
  </p:normalViewPr>
  <p:slideViewPr>
    <p:cSldViewPr snapToGrid="0">
      <p:cViewPr varScale="1">
        <p:scale>
          <a:sx xmlns:a="http://schemas.openxmlformats.org/drawingml/2006/main" n="120" d="100"/>
          <a:sy xmlns:a="http://schemas.openxmlformats.org/drawingml/2006/main" n="120" d="100"/>
        </p:scale>
        <p:origin x="800" y="184"/>
      </p:cViewPr>
      <p:guideLst/>
    </p:cSldViewPr>
  </p:slideViewPr>
  <p:notesTextViewPr>
    <p:cViewPr>
      <p:scale>
        <a:sx xmlns:a="http://schemas.openxmlformats.org/drawingml/2006/main" n="1" d="1"/>
        <a:sy xmlns:a="http://schemas.openxmlformats.org/drawingml/2006/main"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slideMaster" Target="/ppt/slideMasters/slideMaster1.xml" Id="R6ebf828777444fa4" /><Relationship Type="http://schemas.openxmlformats.org/officeDocument/2006/relationships/theme" Target="/ppt/theme/theme1.xml" Id="R00c4909fe0824f52" /><Relationship Type="http://schemas.openxmlformats.org/officeDocument/2006/relationships/notesMaster" Target="/ppt/notesMasters/notesMaster1.xml" Id="R276b27fc81254e55" /><Relationship Type="http://schemas.openxmlformats.org/officeDocument/2006/relationships/presProps" Target="/ppt/presProps.xml" Id="Rc6db4542d474421d" /><Relationship Type="http://schemas.openxmlformats.org/officeDocument/2006/relationships/viewProps" Target="/ppt/viewProps.xml" Id="Rd19c4e75630e40e8" /><Relationship Type="http://schemas.openxmlformats.org/officeDocument/2006/relationships/tableStyles" Target="/ppt/tableStyles.xml" Id="Re4bd93ba9034428a" /><Relationship Type="http://schemas.openxmlformats.org/officeDocument/2006/relationships/slide" Target="/ppt/slides/slide1.xml" Id="R012675b1ba5b445c" /><Relationship Type="http://schemas.openxmlformats.org/officeDocument/2006/relationships/slide" Target="/ppt/slides/slide2.xml" Id="Rcc27a9ed6b4242a3" /><Relationship Type="http://schemas.openxmlformats.org/officeDocument/2006/relationships/slide" Target="/ppt/slides/slide3.xml" Id="R96bdd9440f984188" /><Relationship Type="http://schemas.openxmlformats.org/officeDocument/2006/relationships/slide" Target="/ppt/slides/slide4.xml" Id="R6a9497db71d8400b" /><Relationship Type="http://schemas.openxmlformats.org/officeDocument/2006/relationships/slide" Target="/ppt/slides/slide5.xml" Id="Reea0238a5fb04ed2" /><Relationship Type="http://schemas.openxmlformats.org/officeDocument/2006/relationships/slide" Target="/ppt/slides/slide6.xml" Id="R462701dd998449b7" /><Relationship Type="http://schemas.openxmlformats.org/officeDocument/2006/relationships/slide" Target="/ppt/slides/slide7.xml" Id="R40d3050fa5e64d0a" /><Relationship Type="http://schemas.openxmlformats.org/officeDocument/2006/relationships/slide" Target="/ppt/slides/slide8.xml" Id="Re184fc65d0ba49b4" /><Relationship Type="http://schemas.openxmlformats.org/officeDocument/2006/relationships/slide" Target="/ppt/slides/slide9.xml" Id="R23219c254e8942a7" /><Relationship Type="http://schemas.openxmlformats.org/officeDocument/2006/relationships/slide" Target="/ppt/slides/slide10.xml" Id="R00d9ec48e78d4ca6" /><Relationship Type="http://schemas.openxmlformats.org/officeDocument/2006/relationships/slide" Target="/ppt/slides/slide11.xml" Id="Rfc86b37a5e0040d7" /><Relationship Type="http://schemas.openxmlformats.org/officeDocument/2006/relationships/slide" Target="/ppt/slides/slide12.xml" Id="R62d4ee6d4a3a43d1" /><Relationship Type="http://schemas.openxmlformats.org/officeDocument/2006/relationships/slide" Target="/ppt/slides/slide13.xml" Id="Rf2689a976d304742" /><Relationship Type="http://schemas.openxmlformats.org/officeDocument/2006/relationships/slide" Target="/ppt/slides/slide14.xml" Id="R97808569664b44cd" /><Relationship Type="http://schemas.openxmlformats.org/officeDocument/2006/relationships/slide" Target="/ppt/slides/slide15.xml" Id="Re0ed50a1699147be" /><Relationship Type="http://schemas.openxmlformats.org/officeDocument/2006/relationships/slide" Target="/ppt/slides/slide16.xml" Id="R25e8dbdb35d140a9" /><Relationship Type="http://schemas.openxmlformats.org/officeDocument/2006/relationships/slide" Target="/ppt/slides/slide17.xml" Id="R89a8b3393efd4797" /><Relationship Type="http://schemas.openxmlformats.org/officeDocument/2006/relationships/slide" Target="/ppt/slides/slide18.xml" Id="Red1311ea2a364c9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2.xml" Id="R2776149fbb48496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2.xml><?xml version="1.0" encoding="utf-8"?>
<a:theme xmlns:a="http://schemas.openxmlformats.org/drawingml/2006/main" name="Gientech">
  <a:themeElements>
    <a:clrScheme name="Gientech">
      <a:dk1>
        <a:srgbClr val="000000"/>
      </a:dk1>
      <a:lt1>
        <a:srgbClr val="FFFFFF"/>
      </a:lt1>
      <a:dk2>
        <a:srgbClr val="778495"/>
      </a:dk2>
      <a:lt2>
        <a:srgbClr val="F0F0F0"/>
      </a:lt2>
      <a:accent1>
        <a:srgbClr val="1B4593"/>
      </a:accent1>
      <a:accent2>
        <a:srgbClr val="266DE7"/>
      </a:accent2>
      <a:accent3>
        <a:srgbClr val="048AE3"/>
      </a:accent3>
      <a:accent4>
        <a:srgbClr val="00D3E4"/>
      </a:accent4>
      <a:accent5>
        <a:srgbClr val="0C2864"/>
      </a:accent5>
      <a:accent6>
        <a:srgbClr val="DF203C"/>
      </a:accent6>
      <a:hlink>
        <a:srgbClr val="046EA4"/>
      </a:hlink>
      <a:folHlink>
        <a:srgbClr val="BFBFBF"/>
      </a:folHlink>
    </a:clrScheme>
    <a:fontScheme name="Office">
      <a:majorFont>
        <a:latin typeface="Calibri Light"/>
        <a:ea typeface="Calibri Light"/>
        <a:cs typeface="Calibri Light"/>
      </a:majorFont>
      <a:minorFont>
        <a:latin typeface="Calibri"/>
        <a:ea typeface="Calibri"/>
        <a:cs typeface="Calibri"/>
      </a:minorFont>
    </a:fontScheme>
    <a:fmtScheme name="Gientech">
      <a:fillStyleLst>
        <a:solidFill>
          <a:schemeClr val="phClr"/>
        </a:solidFill>
        <a:solidFill>
          <a:schemeClr val="dk1"/>
        </a:solidFill>
        <a:solidFill>
          <a:schemeClr val="accent1"/>
        </a:soli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746a188599843b4" /><Relationship Type="http://schemas.openxmlformats.org/officeDocument/2006/relationships/notesMaster" Target="/ppt/notesMasters/notesMaster1.xml" Id="R78557ddf4d304f76" /></Relationships>
</file>

<file path=ppt/notesSlides/_rels/notesSlide2.xml.rels>&#65279;<?xml version="1.0" encoding="utf-8"?><Relationships xmlns="http://schemas.openxmlformats.org/package/2006/relationships"><Relationship Type="http://schemas.openxmlformats.org/officeDocument/2006/relationships/slide" Target="/ppt/slides/slide2.xml" Id="Ra272a30dd41b4cf2" /><Relationship Type="http://schemas.openxmlformats.org/officeDocument/2006/relationships/notesMaster" Target="/ppt/notesMasters/notesMaster1.xml" Id="R17b96f31cea64fb9" /></Relationships>
</file>

<file path=ppt/notesSlides/_rels/notesSlide3.xml.rels>&#65279;<?xml version="1.0" encoding="utf-8"?><Relationships xmlns="http://schemas.openxmlformats.org/package/2006/relationships"><Relationship Type="http://schemas.openxmlformats.org/officeDocument/2006/relationships/slide" Target="/ppt/slides/slide3.xml" Id="R3be80fc8b4e64dd3" /><Relationship Type="http://schemas.openxmlformats.org/officeDocument/2006/relationships/notesMaster" Target="/ppt/notesMasters/notesMaster1.xml" Id="Ra8649d3c4f8e489a" /></Relationships>
</file>

<file path=ppt/notesSlides/_rels/notesSlide4.xml.rels>&#65279;<?xml version="1.0" encoding="utf-8"?><Relationships xmlns="http://schemas.openxmlformats.org/package/2006/relationships"><Relationship Type="http://schemas.openxmlformats.org/officeDocument/2006/relationships/slide" Target="/ppt/slides/slide4.xml" Id="R62dfd39b29674066" /><Relationship Type="http://schemas.openxmlformats.org/officeDocument/2006/relationships/notesMaster" Target="/ppt/notesMasters/notesMaster1.xml" Id="R1bc9499857e64e3d" /></Relationships>
</file>

<file path=ppt/notesSlides/_rels/notesSlide5.xml.rels>&#65279;<?xml version="1.0" encoding="utf-8"?><Relationships xmlns="http://schemas.openxmlformats.org/package/2006/relationships"><Relationship Type="http://schemas.openxmlformats.org/officeDocument/2006/relationships/slide" Target="/ppt/slides/slide5.xml" Id="Raf4aa82bff864a09" /><Relationship Type="http://schemas.openxmlformats.org/officeDocument/2006/relationships/notesMaster" Target="/ppt/notesMasters/notesMaster1.xml" Id="Reb81cda10d7142e7" /></Relationships>
</file>

<file path=ppt/notesSlides/_rels/notesSlide6.xml.rels>&#65279;<?xml version="1.0" encoding="utf-8"?><Relationships xmlns="http://schemas.openxmlformats.org/package/2006/relationships"><Relationship Type="http://schemas.openxmlformats.org/officeDocument/2006/relationships/slide" Target="/ppt/slides/slide6.xml" Id="R3ed1a951ff0a4c27" /><Relationship Type="http://schemas.openxmlformats.org/officeDocument/2006/relationships/notesMaster" Target="/ppt/notesMasters/notesMaster1.xml" Id="R0eb10c222a2d4791" /></Relationships>
</file>

<file path=ppt/notesSlides/_rels/notesSlide7.xml.rels>&#65279;<?xml version="1.0" encoding="utf-8"?><Relationships xmlns="http://schemas.openxmlformats.org/package/2006/relationships"><Relationship Type="http://schemas.openxmlformats.org/officeDocument/2006/relationships/slide" Target="/ppt/slides/slide7.xml" Id="Re3ea0f06d1db4182" /><Relationship Type="http://schemas.openxmlformats.org/officeDocument/2006/relationships/notesMaster" Target="/ppt/notesMasters/notesMaster1.xml" Id="Re1bca097dde944ef" /></Relationships>
</file>

<file path=ppt/notesSlides/_rels/notesSlide8.xml.rels>&#65279;<?xml version="1.0" encoding="utf-8"?><Relationships xmlns="http://schemas.openxmlformats.org/package/2006/relationships"><Relationship Type="http://schemas.openxmlformats.org/officeDocument/2006/relationships/slide" Target="/ppt/slides/slide8.xml" Id="R783c57969d554245" /><Relationship Type="http://schemas.openxmlformats.org/officeDocument/2006/relationships/notesMaster" Target="/ppt/notesMasters/notesMaster1.xml" Id="R418e175d44714946" /></Relationships>
</file>

<file path=ppt/notesSlides/_rels/notesSlide9.xml.rels>&#65279;<?xml version="1.0" encoding="utf-8"?><Relationships xmlns="http://schemas.openxmlformats.org/package/2006/relationships"><Relationship Type="http://schemas.openxmlformats.org/officeDocument/2006/relationships/slide" Target="/ppt/slides/slide9.xml" Id="Rd7c423b2923e4bb5" /><Relationship Type="http://schemas.openxmlformats.org/officeDocument/2006/relationships/notesMaster" Target="/ppt/notesMasters/notesMaster1.xml" Id="Re674fd12322845f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b356a556d6f405c" /><Relationship Type="http://schemas.openxmlformats.org/officeDocument/2006/relationships/notesMaster" Target="/ppt/notesMasters/notesMaster1.xml" Id="Rab0778883e674f3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68235f2bdba4c6e" /><Relationship Type="http://schemas.openxmlformats.org/officeDocument/2006/relationships/notesMaster" Target="/ppt/notesMasters/notesMaster1.xml" Id="Rad17e53b2cd6403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fe50a966a9a4856" /><Relationship Type="http://schemas.openxmlformats.org/officeDocument/2006/relationships/notesMaster" Target="/ppt/notesMasters/notesMaster1.xml" Id="R9130fd5ca6bf4aa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b129047cd2e4e69" /><Relationship Type="http://schemas.openxmlformats.org/officeDocument/2006/relationships/notesMaster" Target="/ppt/notesMasters/notesMaster1.xml" Id="R57829621589b4b6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739cc1fc17f4266" /><Relationship Type="http://schemas.openxmlformats.org/officeDocument/2006/relationships/notesMaster" Target="/ppt/notesMasters/notesMaster1.xml" Id="R7931104bf0c94f3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61d398667b534856" /><Relationship Type="http://schemas.openxmlformats.org/officeDocument/2006/relationships/notesMaster" Target="/ppt/notesMasters/notesMaster1.xml" Id="R1797466920b34c14"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95dabd624ee4a30" /><Relationship Type="http://schemas.openxmlformats.org/officeDocument/2006/relationships/notesMaster" Target="/ppt/notesMasters/notesMaster1.xml" Id="R131b6aa877a644cc"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c3463c13d3194dd5" /><Relationship Type="http://schemas.openxmlformats.org/officeDocument/2006/relationships/notesMaster" Target="/ppt/notesMasters/notesMaster1.xml" Id="Rb67d573cfb624b42"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bde4f9c4b59e4e47" /><Relationship Type="http://schemas.openxmlformats.org/officeDocument/2006/relationships/notesMaster" Target="/ppt/notesMasters/notesMaster1.xml" Id="R5dee50e47d56479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fb342ebd508464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c9070ead1094ff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b078ccaba4a466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31a2599b63f400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9fa7e2f53e84200"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6c69d5f498a64d9f"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fd70b10d43d94d66"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f6f35af5963b457b"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63e53134cf524873"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25c39bcecbd24f40" /></Relationships>
</file>

<file path=ppt/slideLayouts/slideLayout2.xml><?xml version="1.0" encoding="utf-8"?>
<p:sldLayout xmlns:p="http://schemas.openxmlformats.org/presentationml/2006/main">
  <p:cSld name="仅空白">
    <p:spTree>
      <p:nvGrpSpPr>
        <p:cNvPr id="1" name=""/>
        <p:cNvGrpSpPr/>
        <p:nvPr/>
      </p:nvGrpSpPr>
      <p:grpSpPr>
        <a:xfrm xmlns:a="http://schemas.openxmlformats.org/drawingml/2006/main"/>
      </p:grpSpPr>
    </p:spTree>
  </p:cSld>
</p:sldLayout>
</file>

<file path=ppt/slideLayouts/slideLayout3.xml><?xml version="1.0" encoding="utf-8"?>
<p:sldLayout xmlns:p="http://schemas.openxmlformats.org/presentationml/2006/main">
  <p:cSld name="标题">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C0A02306-5D40-481D-BA20-9FF6E4653AAB}"/>
              </a:ext>
            </a:extLst>
          </p:cNvPr>
          <p:cNvSpPr/>
          <p:nvPr>
            <p:ph type="title" idx="0"/>
          </p:nvPr>
        </p:nvSpPr>
        <p:spPr>
          <a:xfrm xmlns:a="http://schemas.openxmlformats.org/drawingml/2006/main">
            <a:off x="151015" y="498764"/>
            <a:ext cx="10515600" cy="600045"/>
          </a:xfrm>
        </p:spPr>
        <p:txBody>
          <a:bodyPr xmlns:a="http://schemas.openxmlformats.org/drawingml/2006/main">
            <a:normAutofit/>
          </a:bodyPr>
          <a:lstStyle xmlns:a="http://schemas.openxmlformats.org/drawingml/2006/main">
            <a:lvl1pPr>
              <a:buNone/>
              <a:defRPr sz="2800"/>
            </a:lvl1pPr>
          </a:lstStyle>
          <a:p xmlns:a="http://schemas.openxmlformats.org/drawingml/2006/main"/>
        </p:txBody>
      </p:sp>
    </p:spTree>
  </p:cSld>
</p:sldLayout>
</file>

<file path=ppt/slideLayouts/slideLayout4.xml><?xml version="1.0" encoding="utf-8"?>
<p:sldLayout xmlns:p="http://schemas.openxmlformats.org/presentationml/2006/main">
  <p:cSld name="标题_内容">
    <p:spTree>
      <p:nvGrpSpPr>
        <p:cNvPr id="1" name=""/>
        <p:cNvGrpSpPr/>
        <p:nvPr/>
      </p:nvGrpSpPr>
      <p:grpSpPr>
        <a:xfrm xmlns:a="http://schemas.openxmlformats.org/drawingml/2006/main"/>
      </p:grpSpPr>
      <p:sp>
        <p:nvSpPr>
          <p:cNvPr id="9" name="文本占位符 8">
            <a:extLst xmlns:a="http://schemas.openxmlformats.org/drawingml/2006/main">
              <a:ext uri="{FF2B5EF4-FFF2-40B4-BE49-F238E27FC236}">
                <a16:creationId xmlns:a16="http://schemas.microsoft.com/office/drawing/2014/main" id="{DF9BAFF5-E77C-4379-A2DE-565287B4014C}"/>
              </a:ext>
            </a:extLst>
          </p:cNvPr>
          <p:cNvSpPr/>
          <p:nvPr>
            <p:ph type="body" idx="10"/>
          </p:nvPr>
        </p:nvSpPr>
        <p:spPr>
          <a:xfrm xmlns:a="http://schemas.openxmlformats.org/drawingml/2006/main">
            <a:off x="232229" y="470098"/>
            <a:ext cx="11469533" cy="631937"/>
          </a:xfrm>
        </p:spPr>
        <p:txBody>
          <a:bodyPr xmlns:a="http://schemas.openxmlformats.org/drawingml/2006/main" tIns="36000" bIns="0">
            <a:normAutofit/>
          </a:bodyPr>
          <a:lstStyle xmlns:a="http://schemas.openxmlformats.org/drawingml/2006/main">
            <a:lvl1pPr marL="0" indent="0">
              <a:lnSpc>
                <a:spcPct val="120000"/>
              </a:lnSpc>
              <a:spcBef>
                <a:spcPts val="0"/>
              </a:spcBef>
              <a:buNone/>
              <a:defRPr sz="2800" b="1" i="0">
                <a:latin typeface="微软雅黑"/>
                <a:ea typeface="微软雅黑"/>
                <a:cs typeface="微软雅黑"/>
              </a:defRPr>
            </a:lvl1pPr>
          </a:lstStyle>
          <a:p xmlns:a="http://schemas.openxmlformats.org/drawingml/2006/main"/>
        </p:txBody>
      </p:sp>
      <p:sp>
        <p:nvSpPr>
          <p:cNvPr id="3" name="文本占位符 2">
            <a:extLst xmlns:a="http://schemas.openxmlformats.org/drawingml/2006/main">
              <a:ext uri="{FF2B5EF4-FFF2-40B4-BE49-F238E27FC236}">
                <a16:creationId xmlns:a16="http://schemas.microsoft.com/office/drawing/2014/main" id="{C8ED5032-9BB1-48CE-9BDD-13BBEE420E4D}"/>
              </a:ext>
            </a:extLst>
          </p:cNvPr>
          <p:cNvSpPr/>
          <p:nvPr>
            <p:ph type="body" idx="11"/>
          </p:nvPr>
        </p:nvSpPr>
        <p:spPr>
          <a:xfrm xmlns:a="http://schemas.openxmlformats.org/drawingml/2006/main">
            <a:off x="487017" y="1243013"/>
            <a:ext cx="11214446" cy="5068887"/>
          </a:xfrm>
        </p:spPr>
        <p:txBody>
          <a:bodyPr xmlns:a="http://schemas.openxmlformats.org/drawingml/2006/main">
            <a:normAutofit/>
          </a:bodyPr>
          <a:lstStyle xmlns:a="http://schemas.openxmlformats.org/drawingml/2006/main">
            <a:lvl1pPr marL="0" indent="0">
              <a:lnSpc>
                <a:spcPct val="130000"/>
              </a:lnSpc>
              <a:spcAft>
                <a:spcPts val="0"/>
              </a:spcAft>
              <a:buNone/>
              <a:defRPr sz="2000" b="0" i="0">
                <a:latin typeface="微软雅黑"/>
                <a:ea typeface="微软雅黑"/>
                <a:cs typeface="微软雅黑"/>
              </a:defRPr>
            </a:lvl1pPr>
            <a:lvl2pPr marL="360045" indent="0">
              <a:lnSpc>
                <a:spcPct val="130000"/>
              </a:lnSpc>
              <a:spcAft>
                <a:spcPts val="0"/>
              </a:spcAft>
              <a:buNone/>
              <a:defRPr sz="1800" b="0" i="0">
                <a:latin typeface="微软雅黑"/>
                <a:ea typeface="微软雅黑"/>
                <a:cs typeface="微软雅黑"/>
              </a:defRPr>
            </a:lvl2pPr>
            <a:lvl3pPr marL="720090" indent="0">
              <a:lnSpc>
                <a:spcPct val="130000"/>
              </a:lnSpc>
              <a:spcAft>
                <a:spcPts val="0"/>
              </a:spcAft>
              <a:buNone/>
              <a:defRPr sz="1600" b="0" i="0">
                <a:latin typeface="微软雅黑"/>
                <a:ea typeface="微软雅黑"/>
                <a:cs typeface="微软雅黑"/>
              </a:defRPr>
            </a:lvl3pPr>
            <a:lvl4pPr marL="1080135" indent="0">
              <a:lnSpc>
                <a:spcPct val="130000"/>
              </a:lnSpc>
              <a:spcAft>
                <a:spcPts val="0"/>
              </a:spcAft>
              <a:buNone/>
              <a:defRPr sz="1400" b="0" i="0">
                <a:latin typeface="微软雅黑"/>
                <a:ea typeface="微软雅黑"/>
                <a:cs typeface="微软雅黑"/>
              </a:defRPr>
            </a:lvl4pPr>
            <a:lvl5pPr marL="1440180" indent="0">
              <a:lnSpc>
                <a:spcPct val="130000"/>
              </a:lnSpc>
              <a:spcAft>
                <a:spcPts val="0"/>
              </a:spcAft>
              <a:buNone/>
              <a:defRPr sz="1400" b="0" i="0">
                <a:latin typeface="微软雅黑"/>
                <a:ea typeface="微软雅黑"/>
                <a:cs typeface="微软雅黑"/>
              </a:defRPr>
            </a:lvl5pPr>
          </a:lstStyle>
          <a:p xmlns:a="http://schemas.openxmlformats.org/drawingml/2006/main"/>
        </p:txBody>
      </p:sp>
    </p:spTree>
  </p:cSld>
</p:sldLayout>
</file>

<file path=ppt/slideLayouts/slideLayout5.xml><?xml version="1.0" encoding="utf-8"?>
<p:sldLayout xmlns:p="http://schemas.openxmlformats.org/presentationml/2006/main">
  <p:cSld name="空白_底纹">
    <p:spTree>
      <p:nvGrpSpPr>
        <p:cNvPr id="1" name=""/>
        <p:cNvGrpSpPr/>
        <p:nvPr/>
      </p:nvGrpSpPr>
      <p:grpSpPr>
        <a:xfrm xmlns:a="http://schemas.openxmlformats.org/drawingml/2006/main"/>
      </p:grpSpPr>
    </p:spTree>
  </p:cSld>
</p:sldLayout>
</file>

<file path=ppt/slideLayouts/slideLayout6.xml><?xml version="1.0" encoding="utf-8"?>
<p:sldLayout xmlns:p="http://schemas.openxmlformats.org/presentationml/2006/main">
  <p:cSld name="标题_底纹">
    <p:spTree>
      <p:nvGrpSpPr>
        <p:cNvPr id="1" name=""/>
        <p:cNvGrpSpPr/>
        <p:nvPr/>
      </p:nvGrpSpPr>
      <p:grpSpPr>
        <a:xfrm xmlns:a="http://schemas.openxmlformats.org/drawingml/2006/main"/>
      </p:grpSpPr>
      <p:sp>
        <p:nvSpPr>
          <p:cNvPr id="9" name="文本占位符 8">
            <a:extLst xmlns:a="http://schemas.openxmlformats.org/drawingml/2006/main">
              <a:ext uri="{FF2B5EF4-FFF2-40B4-BE49-F238E27FC236}">
                <a16:creationId xmlns:a16="http://schemas.microsoft.com/office/drawing/2014/main" id="{06CA6987-3DF9-490E-8D58-830FDF0B183D}"/>
              </a:ext>
            </a:extLst>
          </p:cNvPr>
          <p:cNvSpPr/>
          <p:nvPr>
            <p:ph type="body" idx="10"/>
          </p:nvPr>
        </p:nvSpPr>
        <p:spPr>
          <a:xfrm xmlns:a="http://schemas.openxmlformats.org/drawingml/2006/main">
            <a:off x="232229" y="470098"/>
            <a:ext cx="11469533" cy="631937"/>
          </a:xfrm>
        </p:spPr>
        <p:txBody>
          <a:bodyPr xmlns:a="http://schemas.openxmlformats.org/drawingml/2006/main" tIns="36000" bIns="0">
            <a:normAutofit/>
          </a:bodyPr>
          <a:lstStyle xmlns:a="http://schemas.openxmlformats.org/drawingml/2006/main">
            <a:lvl1pPr marL="0" indent="0">
              <a:lnSpc>
                <a:spcPct val="120000"/>
              </a:lnSpc>
              <a:spcBef>
                <a:spcPts val="0"/>
              </a:spcBef>
              <a:buNone/>
              <a:defRPr sz="2800" b="1" i="0">
                <a:latin typeface="微软雅黑"/>
                <a:ea typeface="微软雅黑"/>
                <a:cs typeface="微软雅黑"/>
              </a:defRPr>
            </a:lvl1pPr>
          </a:lstStyle>
          <a:p xmlns:a="http://schemas.openxmlformats.org/drawingml/2006/main"/>
        </p:txBody>
      </p:sp>
    </p:spTree>
  </p:cSld>
</p:sldLayout>
</file>

<file path=ppt/slideLayouts/slideLayout7.xml><?xml version="1.0" encoding="utf-8"?>
<p:sldLayout xmlns:p="http://schemas.openxmlformats.org/presentationml/2006/main">
  <p:cSld name="标题_内容_底纹">
    <p:spTree>
      <p:nvGrpSpPr>
        <p:cNvPr id="1" name=""/>
        <p:cNvGrpSpPr/>
        <p:nvPr/>
      </p:nvGrpSpPr>
      <p:grpSpPr>
        <a:xfrm xmlns:a="http://schemas.openxmlformats.org/drawingml/2006/main"/>
      </p:grpSpPr>
      <p:sp>
        <p:nvSpPr>
          <p:cNvPr id="9" name="文本占位符 8">
            <a:extLst xmlns:a="http://schemas.openxmlformats.org/drawingml/2006/main">
              <a:ext uri="{FF2B5EF4-FFF2-40B4-BE49-F238E27FC236}">
                <a16:creationId xmlns:a16="http://schemas.microsoft.com/office/drawing/2014/main" id="{C3490A8E-C5C1-403D-A188-642DF10F4528}"/>
              </a:ext>
            </a:extLst>
          </p:cNvPr>
          <p:cNvSpPr/>
          <p:nvPr>
            <p:ph type="body" idx="10"/>
          </p:nvPr>
        </p:nvSpPr>
        <p:spPr>
          <a:xfrm xmlns:a="http://schemas.openxmlformats.org/drawingml/2006/main">
            <a:off x="232229" y="470098"/>
            <a:ext cx="11469533" cy="631937"/>
          </a:xfrm>
        </p:spPr>
        <p:txBody>
          <a:bodyPr xmlns:a="http://schemas.openxmlformats.org/drawingml/2006/main" tIns="36000" bIns="0">
            <a:normAutofit/>
          </a:bodyPr>
          <a:lstStyle xmlns:a="http://schemas.openxmlformats.org/drawingml/2006/main">
            <a:lvl1pPr marL="0" indent="0">
              <a:lnSpc>
                <a:spcPct val="120000"/>
              </a:lnSpc>
              <a:spcBef>
                <a:spcPts val="0"/>
              </a:spcBef>
              <a:buNone/>
              <a:defRPr sz="2800" b="1" i="0">
                <a:latin typeface="微软雅黑"/>
                <a:ea typeface="微软雅黑"/>
                <a:cs typeface="微软雅黑"/>
              </a:defRPr>
            </a:lvl1pPr>
          </a:lstStyle>
          <a:p xmlns:a="http://schemas.openxmlformats.org/drawingml/2006/main"/>
        </p:txBody>
      </p:sp>
      <p:sp>
        <p:nvSpPr>
          <p:cNvPr id="3" name="文本占位符 2">
            <a:extLst xmlns:a="http://schemas.openxmlformats.org/drawingml/2006/main">
              <a:ext uri="{FF2B5EF4-FFF2-40B4-BE49-F238E27FC236}">
                <a16:creationId xmlns:a16="http://schemas.microsoft.com/office/drawing/2014/main" id="{37EEDBFB-37B4-4D82-AF17-C0C277632342}"/>
              </a:ext>
            </a:extLst>
          </p:cNvPr>
          <p:cNvSpPr/>
          <p:nvPr>
            <p:ph type="body" idx="11"/>
          </p:nvPr>
        </p:nvSpPr>
        <p:spPr>
          <a:xfrm xmlns:a="http://schemas.openxmlformats.org/drawingml/2006/main">
            <a:off x="487017" y="1243013"/>
            <a:ext cx="11214446" cy="5068887"/>
          </a:xfrm>
        </p:spPr>
        <p:txBody>
          <a:bodyPr xmlns:a="http://schemas.openxmlformats.org/drawingml/2006/main">
            <a:normAutofit/>
          </a:bodyPr>
          <a:lstStyle xmlns:a="http://schemas.openxmlformats.org/drawingml/2006/main">
            <a:lvl1pPr marL="0" indent="0">
              <a:lnSpc>
                <a:spcPct val="130000"/>
              </a:lnSpc>
              <a:spcAft>
                <a:spcPts val="0"/>
              </a:spcAft>
              <a:buNone/>
              <a:defRPr sz="2000" b="0" i="0">
                <a:latin typeface="微软雅黑"/>
                <a:ea typeface="微软雅黑"/>
                <a:cs typeface="微软雅黑"/>
              </a:defRPr>
            </a:lvl1pPr>
            <a:lvl2pPr marL="360045" indent="0">
              <a:lnSpc>
                <a:spcPct val="130000"/>
              </a:lnSpc>
              <a:spcAft>
                <a:spcPts val="0"/>
              </a:spcAft>
              <a:buNone/>
              <a:defRPr sz="1800" b="0" i="0">
                <a:latin typeface="微软雅黑"/>
                <a:ea typeface="微软雅黑"/>
                <a:cs typeface="微软雅黑"/>
              </a:defRPr>
            </a:lvl2pPr>
            <a:lvl3pPr marL="720090" indent="0">
              <a:lnSpc>
                <a:spcPct val="130000"/>
              </a:lnSpc>
              <a:spcAft>
                <a:spcPts val="0"/>
              </a:spcAft>
              <a:buNone/>
              <a:defRPr sz="1600" b="0" i="0">
                <a:latin typeface="微软雅黑"/>
                <a:ea typeface="微软雅黑"/>
                <a:cs typeface="微软雅黑"/>
              </a:defRPr>
            </a:lvl3pPr>
            <a:lvl4pPr marL="1080135" indent="0">
              <a:lnSpc>
                <a:spcPct val="130000"/>
              </a:lnSpc>
              <a:spcAft>
                <a:spcPts val="0"/>
              </a:spcAft>
              <a:buNone/>
              <a:defRPr sz="1400" b="0" i="0">
                <a:latin typeface="微软雅黑"/>
                <a:ea typeface="微软雅黑"/>
                <a:cs typeface="微软雅黑"/>
              </a:defRPr>
            </a:lvl4pPr>
            <a:lvl5pPr marL="1440180" indent="0">
              <a:lnSpc>
                <a:spcPct val="130000"/>
              </a:lnSpc>
              <a:spcAft>
                <a:spcPts val="0"/>
              </a:spcAft>
              <a:buNone/>
              <a:defRPr sz="1400" b="0" i="0">
                <a:latin typeface="微软雅黑"/>
                <a:ea typeface="微软雅黑"/>
                <a:cs typeface="微软雅黑"/>
              </a:defRPr>
            </a:lvl5pPr>
          </a:lstStyle>
          <a:p xmlns:a="http://schemas.openxmlformats.org/drawingml/2006/main"/>
        </p:txBody>
      </p:sp>
    </p:spTree>
  </p:cSld>
</p:sldLayout>
</file>

<file path=ppt/slideLayouts/slideLayout8.xml><?xml version="1.0" encoding="utf-8"?>
<p:sldLayout xmlns:p="http://schemas.openxmlformats.org/presentationml/2006/main">
  <p:cSld name="章节页">
    <p:spTree>
      <p:nvGrpSpPr>
        <p:cNvPr id="1" name=""/>
        <p:cNvGrpSpPr/>
        <p:nvPr/>
      </p:nvGrpSpPr>
      <p:grpSpPr>
        <a:xfrm xmlns:a="http://schemas.openxmlformats.org/drawingml/2006/main"/>
      </p:grpSpPr>
    </p:spTree>
  </p:cSld>
</p:sldLayout>
</file>

<file path=ppt/slideLayouts/slideLayout9.xml><?xml version="1.0" encoding="utf-8"?>
<p:sldLayout xmlns:p="http://schemas.openxmlformats.org/presentationml/2006/main">
  <p:cSld name="封底">
    <p:spTree>
      <p:nvGrpSpPr>
        <p:cNvPr id="1" name=""/>
        <p:cNvGrpSpPr/>
        <p:nvPr/>
      </p:nvGrpSpPr>
      <p:grpSpPr>
        <a:xfrm xmlns:a="http://schemas.openxmlformats.org/drawingml/2006/main"/>
      </p:grpSpPr>
    </p:spTree>
  </p:cSld>
</p:sldLayout>
</file>

<file path=ppt/slideLayouts/slideLayout10.xml><?xml version="1.0" encoding="utf-8"?>
<p:sldLayout xmlns:p="http://schemas.openxmlformats.org/presentationml/2006/main">
  <p:cSld name="无logo全空白">
    <p:spTree>
      <p:nvGrpSpPr>
        <p:cNvPr id="1" name=""/>
        <p:cNvGrpSpPr/>
        <p:nvPr/>
      </p:nvGrpSpPr>
      <p:grpSpPr>
        <a:xfrm xmlns:a="http://schemas.openxmlformats.org/drawingml/2006/main"/>
      </p:grpSpPr>
    </p:spTree>
  </p:cSld>
</p:sldLayout>
</file>

<file path=ppt/slideLayouts/slideLayout11.xml><?xml version="1.0" encoding="utf-8"?>
<p:sldLayout xmlns:p="http://schemas.openxmlformats.org/presentationml/2006/main" type="title">
  <p:cSld name="封面">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theme/theme1.xml" Id="Rf33c35dc6b794e9e" /><Relationship Type="http://schemas.openxmlformats.org/officeDocument/2006/relationships/slideLayout" Target="/ppt/slideLayouts/slideLayout2.xml" Id="Raf6fbacc377e4542" /><Relationship Type="http://schemas.openxmlformats.org/officeDocument/2006/relationships/slideLayout" Target="/ppt/slideLayouts/slideLayout3.xml" Id="Rc52cddca88784412" /><Relationship Type="http://schemas.openxmlformats.org/officeDocument/2006/relationships/slideLayout" Target="/ppt/slideLayouts/slideLayout4.xml" Id="Rfb2c98f062cb48cb" /><Relationship Type="http://schemas.openxmlformats.org/officeDocument/2006/relationships/slideLayout" Target="/ppt/slideLayouts/slideLayout5.xml" Id="R8eacb5fd0d2a4454" /><Relationship Type="http://schemas.openxmlformats.org/officeDocument/2006/relationships/slideLayout" Target="/ppt/slideLayouts/slideLayout6.xml" Id="R4e5510287ed44bfd" /><Relationship Type="http://schemas.openxmlformats.org/officeDocument/2006/relationships/slideLayout" Target="/ppt/slideLayouts/slideLayout7.xml" Id="R0ad9cfca8cf74d92" /><Relationship Type="http://schemas.openxmlformats.org/officeDocument/2006/relationships/slideLayout" Target="/ppt/slideLayouts/slideLayout8.xml" Id="R6595920e41894910" /><Relationship Type="http://schemas.openxmlformats.org/officeDocument/2006/relationships/slideLayout" Target="/ppt/slideLayouts/slideLayout9.xml" Id="Ra787ffc243484a0b" /><Relationship Type="http://schemas.openxmlformats.org/officeDocument/2006/relationships/slideLayout" Target="/ppt/slideLayouts/slideLayout10.xml" Id="R8ddae5e6ebec465d" /><Relationship Type="http://schemas.openxmlformats.org/officeDocument/2006/relationships/slideLayout" Target="/ppt/slideLayouts/slideLayout11.xml" Id="R17a2a89c9686478e"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标题占位符 1">
            <a:extLst xmlns:a="http://schemas.openxmlformats.org/drawingml/2006/main">
              <a:ext uri="{FF2B5EF4-FFF2-40B4-BE49-F238E27FC236}">
                <a16:creationId xmlns:a16="http://schemas.microsoft.com/office/drawing/2014/main" id="{E24BE555-45FA-4C09-9E12-14C8ADB90304}"/>
              </a:ext>
            </a:extLst>
          </p:cNvPr>
          <p:cNvSpPr/>
          <p:nvPr>
            <p:ph type="title" idx="0"/>
          </p:nvPr>
        </p:nvSpPr>
        <p:spPr>
          <a:xfrm xmlns:a="http://schemas.openxmlformats.org/drawingml/2006/main">
            <a:off x="838200" y="365125"/>
            <a:ext cx="10515600" cy="1325563"/>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p:txBody>
      </p:sp>
      <p:sp>
        <p:nvSpPr>
          <p:cNvPr id="3" name="文本占位符 2">
            <a:extLst xmlns:a="http://schemas.openxmlformats.org/drawingml/2006/main">
              <a:ext uri="{FF2B5EF4-FFF2-40B4-BE49-F238E27FC236}">
                <a16:creationId xmlns:a16="http://schemas.microsoft.com/office/drawing/2014/main" id="{42AB2E12-60C2-417F-AA34-C5BEE8EC82B2}"/>
              </a:ext>
            </a:extLst>
          </p:cNvPr>
          <p:cNvSpPr/>
          <p:nvPr>
            <p:ph type="body" idx="1"/>
          </p:nvPr>
        </p:nvSpPr>
        <p:spPr>
          <a:xfrm xmlns:a="http://schemas.openxmlformats.org/drawingml/2006/main">
            <a:off x="838200" y="1825625"/>
            <a:ext cx="10515600" cy="4351338"/>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p:txBody>
      </p:sp>
      <p:sp>
        <p:nvSpPr>
          <p:cNvPr id="4" name="日期占位符 3">
            <a:extLst xmlns:a="http://schemas.openxmlformats.org/drawingml/2006/main">
              <a:ext uri="{FF2B5EF4-FFF2-40B4-BE49-F238E27FC236}">
                <a16:creationId xmlns:a16="http://schemas.microsoft.com/office/drawing/2014/main" id="{7EA3AD79-5D2B-44D2-AB7E-95B3F8EB0D4C}"/>
              </a:ext>
            </a:extLst>
          </p:cNvPr>
          <p:cNvSpPr/>
          <p:nvPr>
            <p:ph type="dt" idx="2"/>
          </p:nvPr>
        </p:nvSpPr>
        <p:spPr>
          <a:xfrm xmlns:a="http://schemas.openxmlformats.org/drawingml/2006/main">
            <a:off x="8382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p:txBody>
      </p:sp>
      <p:sp>
        <p:nvSpPr>
          <p:cNvPr id="5" name="页脚占位符 4">
            <a:extLst xmlns:a="http://schemas.openxmlformats.org/drawingml/2006/main">
              <a:ext uri="{FF2B5EF4-FFF2-40B4-BE49-F238E27FC236}">
                <a16:creationId xmlns:a16="http://schemas.microsoft.com/office/drawing/2014/main" id="{5E477B20-3D40-4B55-9857-41CD60E4BC14}"/>
              </a:ext>
            </a:extLst>
          </p:cNvPr>
          <p:cNvSpPr/>
          <p:nvPr>
            <p:ph type="ftr" idx="3"/>
          </p:nvPr>
        </p:nvSpPr>
        <p:spPr>
          <a:xfrm xmlns:a="http://schemas.openxmlformats.org/drawingml/2006/main">
            <a:off x="4038600" y="6356350"/>
            <a:ext cx="41148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p:txBody>
      </p:sp>
      <p:sp>
        <p:nvSpPr>
          <p:cNvPr id="6" name="灯片编号占位符 5">
            <a:extLst xmlns:a="http://schemas.openxmlformats.org/drawingml/2006/main">
              <a:ext uri="{FF2B5EF4-FFF2-40B4-BE49-F238E27FC236}">
                <a16:creationId xmlns:a16="http://schemas.microsoft.com/office/drawing/2014/main" id="{FDA125FB-D0BF-44FA-A193-4DE28591BAE9}"/>
              </a:ext>
            </a:extLst>
          </p:cNvPr>
          <p:cNvSpPr/>
          <p:nvPr>
            <p:ph type="sldNum" idx="4"/>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f6fbacc377e4542"/>
    <p:sldLayoutId xmlns:r="http://schemas.openxmlformats.org/officeDocument/2006/relationships" id="2147483650" r:id="Rc52cddca88784412"/>
    <p:sldLayoutId xmlns:r="http://schemas.openxmlformats.org/officeDocument/2006/relationships" id="2147483651" r:id="Rfb2c98f062cb48cb"/>
    <p:sldLayoutId xmlns:r="http://schemas.openxmlformats.org/officeDocument/2006/relationships" id="2147483652" r:id="R8eacb5fd0d2a4454"/>
    <p:sldLayoutId xmlns:r="http://schemas.openxmlformats.org/officeDocument/2006/relationships" id="2147483653" r:id="R4e5510287ed44bfd"/>
    <p:sldLayoutId xmlns:r="http://schemas.openxmlformats.org/officeDocument/2006/relationships" id="2147483654" r:id="R0ad9cfca8cf74d92"/>
    <p:sldLayoutId xmlns:r="http://schemas.openxmlformats.org/officeDocument/2006/relationships" id="2147483655" r:id="R6595920e41894910"/>
    <p:sldLayoutId xmlns:r="http://schemas.openxmlformats.org/officeDocument/2006/relationships" id="2147483656" r:id="Ra787ffc243484a0b"/>
    <p:sldLayoutId xmlns:r="http://schemas.openxmlformats.org/officeDocument/2006/relationships" id="2147483657" r:id="R8ddae5e6ebec465d"/>
    <p:sldLayoutId xmlns:r="http://schemas.openxmlformats.org/officeDocument/2006/relationships" id="2147483658" r:id="R17a2a89c9686478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s/_rels/slide1.xml.rels>&#65279;<?xml version="1.0" encoding="utf-8"?><Relationships xmlns="http://schemas.openxmlformats.org/package/2006/relationships"><Relationship Type="http://schemas.openxmlformats.org/officeDocument/2006/relationships/slideLayout" Target="/ppt/slideLayouts/slideLayout11.xml" Id="R72b9411655644f2e" /><Relationship Type="http://schemas.openxmlformats.org/officeDocument/2006/relationships/notesSlide" Target="/ppt/notesSlides/notesSlide1.xml" Id="Rbbbab7a8b3854d24" /></Relationships>
</file>

<file path=ppt/slides/_rels/slide2.xml.rels>&#65279;<?xml version="1.0" encoding="utf-8"?><Relationships xmlns="http://schemas.openxmlformats.org/package/2006/relationships"><Relationship Type="http://schemas.openxmlformats.org/officeDocument/2006/relationships/slideLayout" Target="/ppt/slideLayouts/slideLayout3.xml" Id="Ra51e7771b7c541f6" /><Relationship Type="http://schemas.openxmlformats.org/officeDocument/2006/relationships/image" Target="/ppt/media/image.jpeg" Id="R4904ceaa70dd45a4" /><Relationship Type="http://schemas.openxmlformats.org/officeDocument/2006/relationships/notesSlide" Target="/ppt/notesSlides/notesSlide2.xml" Id="R4d078c4db4ed4e6d" /></Relationships>
</file>

<file path=ppt/slides/_rels/slide3.xml.rels>&#65279;<?xml version="1.0" encoding="utf-8"?><Relationships xmlns="http://schemas.openxmlformats.org/package/2006/relationships"><Relationship Type="http://schemas.openxmlformats.org/officeDocument/2006/relationships/slideLayout" Target="/ppt/slideLayouts/slideLayout3.xml" Id="R0ce10ee8895a4782" /><Relationship Type="http://schemas.openxmlformats.org/officeDocument/2006/relationships/notesSlide" Target="/ppt/notesSlides/notesSlide3.xml" Id="Rae0906358d3245d6" /></Relationships>
</file>

<file path=ppt/slides/_rels/slide4.xml.rels>&#65279;<?xml version="1.0" encoding="utf-8"?><Relationships xmlns="http://schemas.openxmlformats.org/package/2006/relationships"><Relationship Type="http://schemas.openxmlformats.org/officeDocument/2006/relationships/slideLayout" Target="/ppt/slideLayouts/slideLayout3.xml" Id="R01cd13be1e17408e" /><Relationship Type="http://schemas.openxmlformats.org/officeDocument/2006/relationships/notesSlide" Target="/ppt/notesSlides/notesSlide4.xml" Id="Ra432e5e46a73408d" /></Relationships>
</file>

<file path=ppt/slides/_rels/slide5.xml.rels>&#65279;<?xml version="1.0" encoding="utf-8"?><Relationships xmlns="http://schemas.openxmlformats.org/package/2006/relationships"><Relationship Type="http://schemas.openxmlformats.org/officeDocument/2006/relationships/slideLayout" Target="/ppt/slideLayouts/slideLayout3.xml" Id="R26b7e69af885428a" /><Relationship Type="http://schemas.openxmlformats.org/officeDocument/2006/relationships/notesSlide" Target="/ppt/notesSlides/notesSlide5.xml" Id="R9511988a3f444d81" /></Relationships>
</file>

<file path=ppt/slides/_rels/slide6.xml.rels>&#65279;<?xml version="1.0" encoding="utf-8"?><Relationships xmlns="http://schemas.openxmlformats.org/package/2006/relationships"><Relationship Type="http://schemas.openxmlformats.org/officeDocument/2006/relationships/slideLayout" Target="/ppt/slideLayouts/slideLayout3.xml" Id="R9b32d865b73f4171" /><Relationship Type="http://schemas.openxmlformats.org/officeDocument/2006/relationships/notesSlide" Target="/ppt/notesSlides/notesSlide6.xml" Id="R2f271a61b8ce4922" /></Relationships>
</file>

<file path=ppt/slides/_rels/slide7.xml.rels>&#65279;<?xml version="1.0" encoding="utf-8"?><Relationships xmlns="http://schemas.openxmlformats.org/package/2006/relationships"><Relationship Type="http://schemas.openxmlformats.org/officeDocument/2006/relationships/slideLayout" Target="/ppt/slideLayouts/slideLayout3.xml" Id="R7e48d4fa78dc452c" /><Relationship Type="http://schemas.openxmlformats.org/officeDocument/2006/relationships/notesSlide" Target="/ppt/notesSlides/notesSlide7.xml" Id="R1b1db73ea3ea4e62" /></Relationships>
</file>

<file path=ppt/slides/_rels/slide8.xml.rels>&#65279;<?xml version="1.0" encoding="utf-8"?><Relationships xmlns="http://schemas.openxmlformats.org/package/2006/relationships"><Relationship Type="http://schemas.openxmlformats.org/officeDocument/2006/relationships/slideLayout" Target="/ppt/slideLayouts/slideLayout3.xml" Id="Rf78654da85cd42ef" /><Relationship Type="http://schemas.openxmlformats.org/officeDocument/2006/relationships/notesSlide" Target="/ppt/notesSlides/notesSlide8.xml" Id="R96ae7f5be3564c5c" /></Relationships>
</file>

<file path=ppt/slides/_rels/slide9.xml.rels>&#65279;<?xml version="1.0" encoding="utf-8"?><Relationships xmlns="http://schemas.openxmlformats.org/package/2006/relationships"><Relationship Type="http://schemas.openxmlformats.org/officeDocument/2006/relationships/slideLayout" Target="/ppt/slideLayouts/slideLayout3.xml" Id="Raf08e7e2062b4b1b" /><Relationship Type="http://schemas.openxmlformats.org/officeDocument/2006/relationships/image" Target="/ppt/media/image.png" Id="R60daca2b0c6c47bc" /><Relationship Type="http://schemas.openxmlformats.org/officeDocument/2006/relationships/image" Target="/ppt/media/image2.png" Id="R77ecac279ab54976" /><Relationship Type="http://schemas.openxmlformats.org/officeDocument/2006/relationships/image" Target="/ppt/media/image3.png" Id="R0f82b5f78bac41ee" /><Relationship Type="http://schemas.openxmlformats.org/officeDocument/2006/relationships/notesSlide" Target="/ppt/notesSlides/notesSlide9.xml" Id="R189879573c014ad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3.xml" Id="R92ccc819178e403c" /><Relationship Type="http://schemas.openxmlformats.org/officeDocument/2006/relationships/notesSlide" Target="/ppt/notesSlides/notesSlide10.xml" Id="R754af0bd1f324ba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3.xml" Id="R625fb8d5a3344cfd" /><Relationship Type="http://schemas.openxmlformats.org/officeDocument/2006/relationships/image" Target="/ppt/media/image4.png" Id="R37a635e46b484043" /><Relationship Type="http://schemas.openxmlformats.org/officeDocument/2006/relationships/image" Target="/ppt/media/image5.png" Id="Rc9c96ace88ed4f71" /><Relationship Type="http://schemas.openxmlformats.org/officeDocument/2006/relationships/image" Target="/ppt/media/image6.png" Id="Rf2054389c65f4ccd" /><Relationship Type="http://schemas.openxmlformats.org/officeDocument/2006/relationships/image" Target="/ppt/media/image7.png" Id="Ra181427a5dec4fc1" /><Relationship Type="http://schemas.openxmlformats.org/officeDocument/2006/relationships/image" Target="/ppt/media/image8.png" Id="R63eb83134a6042f9" /><Relationship Type="http://schemas.openxmlformats.org/officeDocument/2006/relationships/notesSlide" Target="/ppt/notesSlides/notesSlide11.xml" Id="Re568d5e4e50a4ef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3.xml" Id="R733d5a130dba4df3" /><Relationship Type="http://schemas.openxmlformats.org/officeDocument/2006/relationships/image" Target="/ppt/media/image9.png" Id="R5b742caec85b4f1f" /><Relationship Type="http://schemas.openxmlformats.org/officeDocument/2006/relationships/image" Target="/ppt/media/image10.png" Id="R9d65658e8cc4473e" /><Relationship Type="http://schemas.openxmlformats.org/officeDocument/2006/relationships/notesSlide" Target="/ppt/notesSlides/notesSlide12.xml" Id="R0f1ae651f3234e3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3.xml" Id="R9c7c3e12f8d94e49" /><Relationship Type="http://schemas.openxmlformats.org/officeDocument/2006/relationships/image" Target="/ppt/media/image11.png" Id="Rcd4b9735c6884704" /><Relationship Type="http://schemas.openxmlformats.org/officeDocument/2006/relationships/notesSlide" Target="/ppt/notesSlides/notesSlide13.xml" Id="R40ed8a761ed942a7" /></Relationships>
</file>

<file path=ppt/slides/_rels/slide14.xml.rels>&#65279;<?xml version="1.0" encoding="utf-8"?><Relationships xmlns="http://schemas.openxmlformats.org/package/2006/relationships"><Relationship Type="http://schemas.openxmlformats.org/officeDocument/2006/relationships/slideLayout" Target="/ppt/slideLayouts/slideLayout3.xml" Id="R2861f6cfc5284170" /><Relationship Type="http://schemas.openxmlformats.org/officeDocument/2006/relationships/image" Target="/ppt/media/image12.png" Id="Rdef0b44ccab244c8" /><Relationship Type="http://schemas.openxmlformats.org/officeDocument/2006/relationships/notesSlide" Target="/ppt/notesSlides/notesSlide14.xml" Id="R17f9f90d66474d70" /></Relationships>
</file>

<file path=ppt/slides/_rels/slide15.xml.rels>&#65279;<?xml version="1.0" encoding="utf-8"?><Relationships xmlns="http://schemas.openxmlformats.org/package/2006/relationships"><Relationship Type="http://schemas.openxmlformats.org/officeDocument/2006/relationships/slideLayout" Target="/ppt/slideLayouts/slideLayout3.xml" Id="R0628040783cf45ee" /><Relationship Type="http://schemas.openxmlformats.org/officeDocument/2006/relationships/image" Target="/ppt/media/image13.png" Id="R289ad70797a14855" /><Relationship Type="http://schemas.openxmlformats.org/officeDocument/2006/relationships/image" Target="/ppt/media/image14.png" Id="R4269793c270744dd" /><Relationship Type="http://schemas.openxmlformats.org/officeDocument/2006/relationships/image" Target="/ppt/media/image15.png" Id="R3343bb5e955841b0" /><Relationship Type="http://schemas.openxmlformats.org/officeDocument/2006/relationships/image" Target="/ppt/media/image16.png" Id="Ra64b0b9542e74a5f" /><Relationship Type="http://schemas.openxmlformats.org/officeDocument/2006/relationships/image" Target="/ppt/media/image17.png" Id="Rdd6e3b32eb3f4aae" /><Relationship Type="http://schemas.openxmlformats.org/officeDocument/2006/relationships/notesSlide" Target="/ppt/notesSlides/notesSlide15.xml" Id="R3dae005602a9425d" /></Relationships>
</file>

<file path=ppt/slides/_rels/slide16.xml.rels>&#65279;<?xml version="1.0" encoding="utf-8"?><Relationships xmlns="http://schemas.openxmlformats.org/package/2006/relationships"><Relationship Type="http://schemas.openxmlformats.org/officeDocument/2006/relationships/slideLayout" Target="/ppt/slideLayouts/slideLayout3.xml" Id="Rbb09bc854c254549" /><Relationship Type="http://schemas.openxmlformats.org/officeDocument/2006/relationships/notesSlide" Target="/ppt/notesSlides/notesSlide16.xml" Id="R32fe1083beab4a8c" /></Relationships>
</file>

<file path=ppt/slides/_rels/slide17.xml.rels>&#65279;<?xml version="1.0" encoding="utf-8"?><Relationships xmlns="http://schemas.openxmlformats.org/package/2006/relationships"><Relationship Type="http://schemas.openxmlformats.org/officeDocument/2006/relationships/slideLayout" Target="/ppt/slideLayouts/slideLayout3.xml" Id="Rc1728d733409428c" /><Relationship Type="http://schemas.openxmlformats.org/officeDocument/2006/relationships/notesSlide" Target="/ppt/notesSlides/notesSlide17.xml" Id="Rbedc842c241a4f32" /></Relationships>
</file>

<file path=ppt/slides/_rels/slide18.xml.rels>&#65279;<?xml version="1.0" encoding="utf-8"?><Relationships xmlns="http://schemas.openxmlformats.org/package/2006/relationships"><Relationship Type="http://schemas.openxmlformats.org/officeDocument/2006/relationships/slideLayout" Target="/ppt/slideLayouts/slideLayout9.xml" Id="R90ed7609e0bb4985" /><Relationship Type="http://schemas.openxmlformats.org/officeDocument/2006/relationships/notesSlide" Target="/ppt/notesSlides/notesSlide18.xml" Id="R36c1f1a204ef4256"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F38A1E12-E3A7-457E-BD3C-0599A9FCFD13}"/>
              </a:ext>
            </a:extLst>
          </p:cNvPr>
          <p:cNvSpPr>
            <a:spLocks xmlns:a="http://schemas.openxmlformats.org/drawingml/2006/main" noGrp="1"/>
          </p:cNvSpPr>
          <p:nvPr>
            <p:ph type="ctrTitle" idx="0"/>
          </p:nvPr>
        </p:nvSpPr>
        <p:spPr/>
        <p:txBody>
          <a:bodyPr xmlns:a="http://schemas.openxmlformats.org/drawingml/2006/main">
            <a:normAutofit/>
          </a:bodyPr>
          <a:lstStyle xmlns:a="http://schemas.openxmlformats.org/drawingml/2006/main"/>
          <a:p xmlns:a="http://schemas.openxmlformats.org/drawingml/2006/main">
            <a:r>
              <a:t>P9</a:t>
            </a:r>
            <a:r>
              <a:t>及</a:t>
            </a:r>
            <a:r>
              <a:t>10</a:t>
            </a:r>
            <a:r>
              <a:t>晋升</a:t>
            </a:r>
            <a:r>
              <a:t>答辩</a:t>
            </a:r>
          </a:p>
        </p:txBody>
      </p:sp>
      <p:sp>
        <p:nvSpPr>
          <p:cNvPr id="3" name="副标题 2">
            <a:extLst xmlns:a="http://schemas.openxmlformats.org/drawingml/2006/main">
              <a:ext uri="{FF2B5EF4-FFF2-40B4-BE49-F238E27FC236}">
                <a16:creationId xmlns:a16="http://schemas.microsoft.com/office/drawing/2014/main" id="{048C64A6-70F9-4644-9C52-0545BB06EBDE}"/>
              </a:ext>
            </a:extLst>
          </p:cNvPr>
          <p:cNvSpPr>
            <a:spLocks xmlns:a="http://schemas.openxmlformats.org/drawingml/2006/main" noGrp="1"/>
          </p:cNvSpPr>
          <p:nvPr>
            <p:ph type="subTitle" idx="1"/>
          </p:nvPr>
        </p:nvSpPr>
        <p:spPr>
          <a:xfrm xmlns:a="http://schemas.openxmlformats.org/drawingml/2006/main">
            <a:off x="766726" y="3454529"/>
            <a:ext cx="10802421" cy="1179810"/>
          </a:xfrm>
        </p:spPr>
        <p:txBody>
          <a:bodyPr xmlns:a="http://schemas.openxmlformats.org/drawingml/2006/main"/>
          <a:lstStyle xmlns:a="http://schemas.openxmlformats.org/drawingml/2006/main"/>
          <a:p xmlns:a="http://schemas.openxmlformats.org/drawingml/2006/main">
            <a:r>
              <a:t>Name:</a:t>
            </a:r>
          </a:p>
          <a:p xmlns:a="http://schemas.openxmlformats.org/drawingml/2006/main">
            <a:r>
              <a:t>Department:</a:t>
            </a:r>
          </a:p>
          <a:p xmlns:a="http://schemas.openxmlformats.org/drawingml/2006/main">
            <a:r>
              <a:t>Apply for Career Ladder</a:t>
            </a:r>
            <a:r>
              <a:t>:</a:t>
            </a:r>
          </a:p>
        </p:txBody>
      </p:sp>
    </p:spTree>
    <p:extLst>
      <p:ext uri="{BB962C8B-B14F-4D97-AF65-F5344CB8AC3E}">
        <p14:creationId xmlns:p14="http://schemas.microsoft.com/office/powerpoint/2010/main" val="1567437283"/>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6" name="文本占位符 1">
            <a:extLst xmlns:a="http://schemas.openxmlformats.org/drawingml/2006/main">
              <a:ext uri="{FF2B5EF4-FFF2-40B4-BE49-F238E27FC236}">
                <a16:creationId xmlns:a16="http://schemas.microsoft.com/office/drawing/2014/main" id="{D0F34F14-9263-4B3B-8486-8C616FD39F9D}"/>
              </a:ext>
            </a:extLst>
          </p:cNvPr>
          <p:cNvSpPr>
            <a:spLocks xmlns:a="http://schemas.openxmlformats.org/drawingml/2006/main" noGrp="1"/>
          </p:cNvSpPr>
          <p:nvPr/>
        </p:nvSpPr>
        <p:spPr>
          <a:xfrm xmlns:a="http://schemas.openxmlformats.org/drawingml/2006/main">
            <a:off x="232229" y="470098"/>
            <a:ext cx="11469533" cy="631937"/>
          </a:xfrm>
          <a:prstGeom xmlns:a="http://schemas.openxmlformats.org/drawingml/2006/main" prst="rect">
            <a:avLst/>
          </a:prstGeom>
        </p:spPr>
        <p:txBody>
          <a:bodyPr xmlns:a="http://schemas.openxmlformats.org/drawingml/2006/main"/>
          <a:lstStyle xmlns:a="http://schemas.openxmlformats.org/drawingml/2006/main">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xmlns:a="http://schemas.openxmlformats.org/drawingml/2006/main">
            <a:pPr marL="0" indent="0">
              <a:buNone/>
            </a:pPr>
            <a:r>
              <a:rPr>
                <a:latin typeface="微软雅黑"/>
                <a:ea typeface="微软雅黑"/>
                <a:cs typeface="微软雅黑"/>
              </a:rPr>
              <a:t>1.</a:t>
            </a:r>
            <a:r>
              <a:rPr>
                <a:latin typeface="微软雅黑"/>
                <a:ea typeface="微软雅黑"/>
                <a:cs typeface="微软雅黑"/>
              </a:rPr>
              <a:t>个人基本情况</a:t>
            </a:r>
            <a:r>
              <a:rPr>
                <a:latin typeface="微软雅黑"/>
                <a:ea typeface="微软雅黑"/>
                <a:cs typeface="微软雅黑"/>
              </a:rPr>
              <a:t>介绍</a:t>
            </a:r>
          </a:p>
        </p:txBody>
      </p:sp>
      <p:sp>
        <p:nvSpPr>
          <p:cNvPr id="8" name="Text Box 2">
            <a:extLst xmlns:a="http://schemas.openxmlformats.org/drawingml/2006/main">
              <a:ext uri="{FF2B5EF4-FFF2-40B4-BE49-F238E27FC236}">
                <a16:creationId xmlns:a16="http://schemas.microsoft.com/office/drawing/2014/main" id="{F6CEA8BE-3AB5-42BE-9EF9-9966C47D2C93}"/>
              </a:ext>
            </a:extLst>
          </p:cNvPr>
          <p:cNvSpPr>
            <a:spLocks xmlns:a="http://schemas.openxmlformats.org/drawingml/2006/main" noGrp="1"/>
          </p:cNvSpPr>
          <p:nvPr/>
        </p:nvSpPr>
        <p:spPr>
          <a:xfrm xmlns:a="http://schemas.openxmlformats.org/drawingml/2006/main" rot="0">
            <a:off x="3351213" y="1602102"/>
            <a:ext cx="7225801" cy="2546984"/>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wrap="square" lIns="92075" tIns="46038" rIns="92075" bIns="46038">
            <a:spAutoFit/>
          </a:bodyPr>
          <a:lstStyle xmlns:a="http://schemas.openxmlformats.org/drawingml/2006/main"/>
          <a:p xmlns:a="http://schemas.openxmlformats.org/drawingml/2006/main">
            <a:pPr>
              <a:lnSpc>
                <a:spcPct val="150000"/>
              </a:lnSpc>
              <a:buNone/>
            </a:pPr>
            <a:r>
              <a:rPr sz="1400" b="1">
                <a:latin typeface="微软雅黑"/>
                <a:ea typeface="微软雅黑"/>
                <a:cs typeface="微软雅黑"/>
              </a:rPr>
              <a:t>姓名</a:t>
            </a:r>
            <a:r>
              <a:rPr sz="1400" b="1">
                <a:latin typeface="微软雅黑"/>
                <a:ea typeface="微软雅黑"/>
                <a:cs typeface="微软雅黑"/>
              </a:rPr>
              <a:t>: </a:t>
            </a:r>
            <a:r>
              <a:rPr sz="1400" b="1">
                <a:latin typeface="微软雅黑"/>
                <a:ea typeface="微软雅黑"/>
                <a:cs typeface="微软雅黑"/>
              </a:rPr>
              <a:t>张瀚峰</a:t>
            </a:r>
          </a:p>
          <a:p xmlns:a="http://schemas.openxmlformats.org/drawingml/2006/main">
            <a:pPr>
              <a:lnSpc>
                <a:spcPct val="150000"/>
              </a:lnSpc>
              <a:buNone/>
            </a:pPr>
            <a:r>
              <a:rPr sz="1400" b="1">
                <a:latin typeface="微软雅黑"/>
                <a:ea typeface="微软雅黑"/>
                <a:cs typeface="微软雅黑"/>
              </a:rPr>
              <a:t>部门：</a:t>
            </a:r>
            <a:r>
              <a:rPr sz="1400" b="1">
                <a:latin typeface="微软雅黑"/>
                <a:ea typeface="微软雅黑"/>
                <a:cs typeface="微软雅黑"/>
              </a:rPr>
              <a:t>RI_AIL</a:t>
            </a:r>
          </a:p>
          <a:p xmlns:a="http://schemas.openxmlformats.org/drawingml/2006/main">
            <a:pPr>
              <a:lnSpc>
                <a:spcPct val="150000"/>
              </a:lnSpc>
              <a:buNone/>
            </a:pPr>
            <a:r>
              <a:rPr sz="1400" b="1">
                <a:latin typeface="微软雅黑"/>
                <a:ea typeface="微软雅黑"/>
                <a:cs typeface="微软雅黑"/>
              </a:rPr>
              <a:t>申请职业阶梯等级：</a:t>
            </a:r>
            <a:r>
              <a:rPr sz="1400" b="1">
                <a:latin typeface="微软雅黑"/>
                <a:ea typeface="微软雅黑"/>
                <a:cs typeface="微软雅黑"/>
              </a:rPr>
              <a:t>CL3</a:t>
            </a:r>
          </a:p>
          <a:p xmlns:a="http://schemas.openxmlformats.org/drawingml/2006/main">
            <a:pPr>
              <a:lnSpc>
                <a:spcPct val="150000"/>
              </a:lnSpc>
              <a:buNone/>
            </a:pPr>
            <a:r>
              <a:rPr sz="1400" b="1">
                <a:latin typeface="微软雅黑"/>
                <a:ea typeface="微软雅黑"/>
                <a:cs typeface="微软雅黑"/>
              </a:rPr>
              <a:t>申请晋升职级：</a:t>
            </a:r>
            <a:r>
              <a:rPr sz="1400" b="1">
                <a:latin typeface="微软雅黑"/>
                <a:ea typeface="微软雅黑"/>
                <a:cs typeface="微软雅黑"/>
              </a:rPr>
              <a:t>P10</a:t>
            </a:r>
          </a:p>
          <a:p xmlns:a="http://schemas.openxmlformats.org/drawingml/2006/main">
            <a:pPr>
              <a:lnSpc>
                <a:spcPct val="150000"/>
              </a:lnSpc>
              <a:buNone/>
            </a:pPr>
            <a:r>
              <a:rPr sz="1400" b="1">
                <a:latin typeface="微软雅黑"/>
                <a:ea typeface="微软雅黑"/>
                <a:cs typeface="微软雅黑"/>
              </a:rPr>
              <a:t>现职级：</a:t>
            </a:r>
            <a:r>
              <a:rPr sz="1400" b="1">
                <a:latin typeface="微软雅黑"/>
                <a:ea typeface="微软雅黑"/>
                <a:cs typeface="微软雅黑"/>
              </a:rPr>
              <a:t>P9</a:t>
            </a:r>
          </a:p>
          <a:p xmlns:a="http://schemas.openxmlformats.org/drawingml/2006/main">
            <a:pPr>
              <a:lnSpc>
                <a:spcPct val="150000"/>
              </a:lnSpc>
              <a:buNone/>
            </a:pPr>
            <a:r>
              <a:rPr sz="1400" b="1">
                <a:latin typeface="微软雅黑"/>
                <a:ea typeface="微软雅黑"/>
                <a:cs typeface="微软雅黑"/>
              </a:rPr>
              <a:t>教育背景：硕士研究生</a:t>
            </a:r>
          </a:p>
          <a:p xmlns:a="http://schemas.openxmlformats.org/drawingml/2006/main">
            <a:pPr>
              <a:lnSpc>
                <a:spcPct val="120000"/>
              </a:lnSpc>
              <a:buNone/>
            </a:pPr>
            <a:r>
              <a:rPr sz="1400" b="1">
                <a:latin typeface="微软雅黑"/>
                <a:ea typeface="微软雅黑"/>
                <a:cs typeface="微软雅黑"/>
              </a:rPr>
              <a:t>工作经验：</a:t>
            </a:r>
            <a:r>
              <a:rPr sz="1400" b="1">
                <a:latin typeface="微软雅黑"/>
                <a:ea typeface="微软雅黑"/>
                <a:cs typeface="微软雅黑"/>
              </a:rPr>
              <a:t>12</a:t>
            </a:r>
          </a:p>
          <a:p xmlns:a="http://schemas.openxmlformats.org/drawingml/2006/main">
            <a:pPr>
              <a:lnSpc>
                <a:spcPct val="120000"/>
              </a:lnSpc>
              <a:buNone/>
            </a:pPr>
            <a:r>
              <a:rPr sz="1400" b="1">
                <a:latin typeface="微软雅黑"/>
                <a:ea typeface="微软雅黑"/>
                <a:cs typeface="微软雅黑"/>
              </a:rPr>
              <a:t>  </a:t>
            </a:r>
          </a:p>
        </p:txBody>
      </p:sp>
      <p:sp>
        <p:nvSpPr>
          <p:cNvPr id="9" name="Rectangle 18">
            <a:extLst xmlns:a="http://schemas.openxmlformats.org/drawingml/2006/main">
              <a:ext uri="{FF2B5EF4-FFF2-40B4-BE49-F238E27FC236}">
                <a16:creationId xmlns:a16="http://schemas.microsoft.com/office/drawing/2014/main" id="{1A7A600D-C2C1-4964-8221-34CBC84FD144}"/>
              </a:ext>
            </a:extLst>
          </p:cNvPr>
          <p:cNvSpPr>
            <a:spLocks xmlns:a="http://schemas.openxmlformats.org/drawingml/2006/main" noGrp="1"/>
          </p:cNvSpPr>
          <p:nvPr/>
        </p:nvSpPr>
        <p:spPr>
          <a:xfrm xmlns:a="http://schemas.openxmlformats.org/drawingml/2006/main" rot="0">
            <a:off x="654241" y="1699538"/>
            <a:ext cx="2152728" cy="2713552"/>
          </a:xfrm>
          <a:prstGeom xmlns:a="http://schemas.openxmlformats.org/drawingml/2006/main" prst="rect">
            <a:avLst/>
          </a:prstGeom>
          <a:noFill xmlns:a="http://schemas.openxmlformats.org/drawingml/2006/main"/>
          <a:ln xmlns:a="http://schemas.openxmlformats.org/drawingml/2006/main" w="9525">
            <a:solidFill>
              <a:srgbClr val="808080"/>
            </a:solidFill>
            <a:prstDash val="dashDot"/>
          </a:ln>
        </p:spPr>
        <p:txBody>
          <a:bodyPr xmlns:a="http://schemas.openxmlformats.org/drawingml/2006/main"/>
          <a:lstStyle xmlns:a="http://schemas.openxmlformats.org/drawingml/2006/main"/>
          <a:p xmlns:a="http://schemas.openxmlformats.org/drawingml/2006/main">
            <a:pPr indent="87630" algn="ctr">
              <a:lnSpc>
                <a:spcPct val="125000"/>
              </a:lnSpc>
              <a:spcBef>
                <a:spcPts val="0"/>
              </a:spcBef>
              <a:spcAft>
                <a:spcPts val="0"/>
              </a:spcAft>
              <a:buNone/>
            </a:pPr>
          </a:p>
          <a:p xmlns:a="http://schemas.openxmlformats.org/drawingml/2006/main">
            <a:pPr indent="87630" algn="ctr">
              <a:lnSpc>
                <a:spcPct val="125000"/>
              </a:lnSpc>
              <a:spcBef>
                <a:spcPts val="0"/>
              </a:spcBef>
              <a:spcAft>
                <a:spcPts val="0"/>
              </a:spcAft>
              <a:buNone/>
            </a:pPr>
            <a:r>
              <a:rPr sz="3200" b="1">
                <a:latin typeface="+mn-ea"/>
                <a:ea typeface="+mn-ea"/>
                <a:cs typeface="+mn-ea"/>
              </a:rPr>
              <a:t>照片</a:t>
            </a:r>
          </a:p>
        </p:txBody>
      </p:sp>
      <p:sp>
        <p:nvSpPr>
          <p:cNvPr id="10" name="矩形 9">
            <a:extLst xmlns:a="http://schemas.openxmlformats.org/drawingml/2006/main">
              <a:ext uri="{FF2B5EF4-FFF2-40B4-BE49-F238E27FC236}">
                <a16:creationId xmlns:a16="http://schemas.microsoft.com/office/drawing/2014/main" id="{9580D470-AFED-49B6-9419-6D23633ACC12}"/>
              </a:ext>
            </a:extLst>
          </p:cNvPr>
          <p:cNvSpPr>
            <a:spLocks xmlns:a="http://schemas.openxmlformats.org/drawingml/2006/main" noGrp="1"/>
          </p:cNvSpPr>
          <p:nvPr/>
        </p:nvSpPr>
        <p:spPr>
          <a:xfrm xmlns:a="http://schemas.openxmlformats.org/drawingml/2006/main" rot="0">
            <a:off x="947041" y="4544972"/>
            <a:ext cx="7859795" cy="2553334"/>
          </a:xfrm>
          <a:prstGeom xmlns:a="http://schemas.openxmlformats.org/drawingml/2006/main" prst="rect">
            <a:avLst/>
          </a:prstGeom>
        </p:spPr>
        <p:txBody>
          <a:bodyPr xmlns:a="http://schemas.openxmlformats.org/drawingml/2006/main" wrap="square">
            <a:spAutoFit/>
          </a:bodyPr>
          <a:lstStyle xmlns:a="http://schemas.openxmlformats.org/drawingml/2006/main"/>
          <a:p xmlns:a="http://schemas.openxmlformats.org/drawingml/2006/main">
            <a:pPr>
              <a:buNone/>
            </a:pPr>
            <a:r>
              <a:rPr sz="2000" b="1">
                <a:latin typeface="微软雅黑"/>
                <a:ea typeface="微软雅黑"/>
                <a:cs typeface="微软雅黑"/>
              </a:rPr>
              <a:t>项目经验：</a:t>
            </a:r>
          </a:p>
          <a:p xmlns:a="http://schemas.openxmlformats.org/drawingml/2006/main">
            <a:pPr>
              <a:buNone/>
            </a:pPr>
            <a:r>
              <a:rPr sz="1400">
                <a:latin typeface="微软雅黑"/>
                <a:ea typeface="微软雅黑"/>
                <a:cs typeface="微软雅黑"/>
              </a:rPr>
              <a:t> </a:t>
            </a:r>
          </a:p>
          <a:p xmlns:a="http://schemas.openxmlformats.org/drawingml/2006/main">
            <a:pPr>
              <a:buChar char="p"/>
            </a:pPr>
            <a:r>
              <a:rPr sz="1400">
                <a:latin typeface="微软雅黑"/>
                <a:ea typeface="微软雅黑"/>
                <a:cs typeface="微软雅黑"/>
              </a:rPr>
              <a:t>   FP_</a:t>
            </a:r>
            <a:r>
              <a:rPr sz="1400">
                <a:latin typeface="微软雅黑"/>
                <a:ea typeface="微软雅黑"/>
                <a:cs typeface="微软雅黑"/>
              </a:rPr>
              <a:t>南自华盾</a:t>
            </a:r>
            <a:r>
              <a:rPr sz="1400">
                <a:latin typeface="微软雅黑"/>
                <a:ea typeface="微软雅黑"/>
                <a:cs typeface="微软雅黑"/>
              </a:rPr>
              <a:t>2024</a:t>
            </a:r>
            <a:r>
              <a:rPr sz="1400">
                <a:latin typeface="微软雅黑"/>
                <a:ea typeface="微软雅黑"/>
                <a:cs typeface="微软雅黑"/>
              </a:rPr>
              <a:t>知识图谱项目</a:t>
            </a:r>
            <a:r>
              <a:rPr sz="1400">
                <a:latin typeface="微软雅黑"/>
                <a:ea typeface="微软雅黑"/>
                <a:cs typeface="微软雅黑"/>
              </a:rPr>
              <a:t> </a:t>
            </a:r>
            <a:r>
              <a:rPr sz="1400">
                <a:latin typeface="微软雅黑"/>
                <a:ea typeface="微软雅黑"/>
                <a:cs typeface="微软雅黑"/>
              </a:rPr>
              <a:t>前端负责人</a:t>
            </a:r>
            <a:r>
              <a:rPr sz="1400">
                <a:latin typeface="微软雅黑"/>
                <a:ea typeface="微软雅黑"/>
                <a:cs typeface="微软雅黑"/>
              </a:rPr>
              <a:t> 12M 315w</a:t>
            </a:r>
          </a:p>
          <a:p xmlns:a="http://schemas.openxmlformats.org/drawingml/2006/main">
            <a:pPr>
              <a:buChar char="p"/>
            </a:pPr>
            <a:r>
              <a:rPr sz="1400">
                <a:latin typeface="微软雅黑"/>
                <a:ea typeface="微软雅黑"/>
                <a:cs typeface="微软雅黑"/>
              </a:rPr>
              <a:t>   </a:t>
            </a:r>
            <a:r>
              <a:rPr sz="1400">
                <a:latin typeface="微软雅黑"/>
                <a:ea typeface="微软雅黑"/>
                <a:cs typeface="微软雅黑"/>
              </a:rPr>
              <a:t>杭州银行智能问答平台</a:t>
            </a:r>
            <a:r>
              <a:rPr sz="1400">
                <a:latin typeface="微软雅黑"/>
                <a:ea typeface="微软雅黑"/>
                <a:cs typeface="微软雅黑"/>
              </a:rPr>
              <a:t> </a:t>
            </a:r>
            <a:r>
              <a:rPr sz="1400">
                <a:latin typeface="微软雅黑"/>
                <a:ea typeface="微软雅黑"/>
                <a:cs typeface="微软雅黑"/>
              </a:rPr>
              <a:t>前端负责人</a:t>
            </a:r>
            <a:r>
              <a:rPr sz="1400">
                <a:latin typeface="微软雅黑"/>
                <a:ea typeface="微软雅黑"/>
                <a:cs typeface="微软雅黑"/>
              </a:rPr>
              <a:t> 6M 132w</a:t>
            </a:r>
          </a:p>
          <a:p xmlns:a="http://schemas.openxmlformats.org/drawingml/2006/main">
            <a:pPr>
              <a:buChar char="p"/>
            </a:pPr>
            <a:r>
              <a:rPr sz="1400">
                <a:latin typeface="微软雅黑"/>
                <a:ea typeface="微软雅黑"/>
                <a:cs typeface="微软雅黑"/>
              </a:rPr>
              <a:t>   </a:t>
            </a:r>
            <a:r>
              <a:rPr sz="1400">
                <a:latin typeface="微软雅黑"/>
                <a:ea typeface="微软雅黑"/>
                <a:cs typeface="微软雅黑"/>
              </a:rPr>
              <a:t>贵阳银行</a:t>
            </a:r>
            <a:r>
              <a:rPr sz="1400">
                <a:latin typeface="微软雅黑"/>
                <a:ea typeface="微软雅黑"/>
                <a:cs typeface="微软雅黑"/>
              </a:rPr>
              <a:t> </a:t>
            </a:r>
            <a:r>
              <a:rPr sz="1400">
                <a:latin typeface="微软雅黑"/>
                <a:ea typeface="微软雅黑"/>
                <a:cs typeface="微软雅黑"/>
              </a:rPr>
              <a:t>技术骨干</a:t>
            </a:r>
            <a:r>
              <a:rPr sz="1400">
                <a:latin typeface="微软雅黑"/>
                <a:ea typeface="微软雅黑"/>
                <a:cs typeface="微软雅黑"/>
              </a:rPr>
              <a:t> 4M 28w</a:t>
            </a:r>
          </a:p>
          <a:p xmlns:a="http://schemas.openxmlformats.org/drawingml/2006/main">
            <a:pPr>
              <a:buChar char="p"/>
            </a:pPr>
            <a:r>
              <a:rPr sz="1400">
                <a:latin typeface="微软雅黑"/>
                <a:ea typeface="微软雅黑"/>
                <a:cs typeface="微软雅黑"/>
              </a:rPr>
              <a:t>   </a:t>
            </a:r>
            <a:r>
              <a:rPr sz="1400">
                <a:latin typeface="微软雅黑"/>
                <a:ea typeface="微软雅黑"/>
                <a:cs typeface="微软雅黑"/>
              </a:rPr>
              <a:t>赣州银行</a:t>
            </a:r>
            <a:r>
              <a:rPr sz="1400">
                <a:latin typeface="微软雅黑"/>
                <a:ea typeface="微软雅黑"/>
                <a:cs typeface="微软雅黑"/>
              </a:rPr>
              <a:t> </a:t>
            </a:r>
            <a:r>
              <a:rPr sz="1400">
                <a:latin typeface="微软雅黑"/>
                <a:ea typeface="微软雅黑"/>
                <a:cs typeface="微软雅黑"/>
              </a:rPr>
              <a:t>技术骨干</a:t>
            </a:r>
            <a:r>
              <a:rPr sz="1400">
                <a:latin typeface="微软雅黑"/>
                <a:ea typeface="微软雅黑"/>
                <a:cs typeface="微软雅黑"/>
              </a:rPr>
              <a:t> 10M 475w</a:t>
            </a:r>
          </a:p>
          <a:p xmlns:a="http://schemas.openxmlformats.org/drawingml/2006/main">
            <a:pPr>
              <a:buChar char="p"/>
            </a:pPr>
            <a:r>
              <a:rPr sz="1400">
                <a:latin typeface="微软雅黑"/>
                <a:ea typeface="微软雅黑"/>
                <a:cs typeface="微软雅黑"/>
              </a:rPr>
              <a:t>   </a:t>
            </a:r>
            <a:r>
              <a:rPr sz="1400">
                <a:latin typeface="微软雅黑"/>
                <a:ea typeface="微软雅黑"/>
                <a:cs typeface="微软雅黑"/>
              </a:rPr>
              <a:t>智能问答系统研发</a:t>
            </a:r>
            <a:r>
              <a:rPr sz="1400">
                <a:latin typeface="微软雅黑"/>
                <a:ea typeface="微软雅黑"/>
                <a:cs typeface="微软雅黑"/>
              </a:rPr>
              <a:t> </a:t>
            </a:r>
            <a:r>
              <a:rPr sz="1400">
                <a:latin typeface="微软雅黑"/>
                <a:ea typeface="微软雅黑"/>
                <a:cs typeface="微软雅黑"/>
              </a:rPr>
              <a:t>前端负责人</a:t>
            </a:r>
            <a:r>
              <a:rPr sz="1400">
                <a:latin typeface="微软雅黑"/>
                <a:ea typeface="微软雅黑"/>
                <a:cs typeface="微软雅黑"/>
              </a:rPr>
              <a:t> 24M+  -</a:t>
            </a:r>
          </a:p>
          <a:p xmlns:a="http://schemas.openxmlformats.org/drawingml/2006/main">
            <a:pPr>
              <a:buChar char="p"/>
            </a:pPr>
            <a:r>
              <a:rPr sz="1400">
                <a:latin typeface="微软雅黑"/>
                <a:ea typeface="微软雅黑"/>
                <a:cs typeface="微软雅黑"/>
              </a:rPr>
              <a:t>   </a:t>
            </a:r>
            <a:r>
              <a:rPr sz="1400">
                <a:latin typeface="微软雅黑"/>
                <a:ea typeface="微软雅黑"/>
                <a:cs typeface="微软雅黑"/>
              </a:rPr>
              <a:t>智能写作系统研发</a:t>
            </a:r>
            <a:r>
              <a:rPr sz="1400">
                <a:latin typeface="微软雅黑"/>
                <a:ea typeface="微软雅黑"/>
                <a:cs typeface="微软雅黑"/>
              </a:rPr>
              <a:t> </a:t>
            </a:r>
            <a:r>
              <a:rPr sz="1400">
                <a:latin typeface="微软雅黑"/>
                <a:ea typeface="微软雅黑"/>
                <a:cs typeface="微软雅黑"/>
              </a:rPr>
              <a:t>前端负责人</a:t>
            </a:r>
            <a:r>
              <a:rPr sz="1400">
                <a:latin typeface="微软雅黑"/>
                <a:ea typeface="微软雅黑"/>
                <a:cs typeface="微软雅黑"/>
              </a:rPr>
              <a:t> 24</a:t>
            </a:r>
            <a:r>
              <a:rPr sz="1400">
                <a:latin typeface="微软雅黑"/>
                <a:ea typeface="微软雅黑"/>
                <a:cs typeface="微软雅黑"/>
              </a:rPr>
              <a:t>M+  -</a:t>
            </a:r>
          </a:p>
          <a:p xmlns:a="http://schemas.openxmlformats.org/drawingml/2006/main">
            <a:pPr>
              <a:buChar char="p"/>
            </a:pPr>
            <a:r>
              <a:rPr sz="1400">
                <a:latin typeface="微软雅黑"/>
                <a:ea typeface="微软雅黑"/>
                <a:cs typeface="微软雅黑"/>
              </a:rPr>
              <a:t>   </a:t>
            </a:r>
            <a:r>
              <a:rPr sz="1400">
                <a:latin typeface="微软雅黑"/>
                <a:ea typeface="微软雅黑"/>
                <a:cs typeface="微软雅黑"/>
              </a:rPr>
              <a:t>鲸图知识图谱系统研发</a:t>
            </a:r>
            <a:r>
              <a:rPr sz="1400">
                <a:latin typeface="微软雅黑"/>
                <a:ea typeface="微软雅黑"/>
                <a:cs typeface="微软雅黑"/>
              </a:rPr>
              <a:t> </a:t>
            </a:r>
            <a:r>
              <a:rPr sz="1400">
                <a:latin typeface="微软雅黑"/>
                <a:ea typeface="微软雅黑"/>
                <a:cs typeface="微软雅黑"/>
              </a:rPr>
              <a:t>前端负责人</a:t>
            </a:r>
            <a:r>
              <a:rPr sz="1400">
                <a:latin typeface="微软雅黑"/>
                <a:ea typeface="微软雅黑"/>
                <a:cs typeface="微软雅黑"/>
              </a:rPr>
              <a:t> 16</a:t>
            </a:r>
            <a:r>
              <a:rPr sz="1400">
                <a:latin typeface="微软雅黑"/>
                <a:ea typeface="微软雅黑"/>
                <a:cs typeface="微软雅黑"/>
              </a:rPr>
              <a:t>M+ -</a:t>
            </a:r>
          </a:p>
          <a:p xmlns:a="http://schemas.openxmlformats.org/drawingml/2006/main">
            <a:pPr>
              <a:buChar char="p"/>
            </a:pPr>
          </a:p>
          <a:p xmlns:a="http://schemas.openxmlformats.org/drawingml/2006/main">
            <a:pPr>
              <a:buChar char="p"/>
            </a:pPr>
          </a:p>
        </p:txBody>
      </p:sp>
      <p:pic>
        <p:nvPicPr>
          <p:cNvPr id="11" name="图片 1"/>
          <p:cNvPicPr>
            <a:picLocks xmlns:a="http://schemas.openxmlformats.org/drawingml/2006/main" noChangeAspect="1"/>
          </p:cNvPicPr>
          <p:nvPr/>
        </p:nvPicPr>
        <p:blipFill>
          <a:blip xmlns:r="http://schemas.openxmlformats.org/officeDocument/2006/relationships" xmlns:a="http://schemas.openxmlformats.org/drawingml/2006/main" r:embed="R4904ceaa70dd45a4"/>
          <a:stretch xmlns:a="http://schemas.openxmlformats.org/drawingml/2006/main">
            <a:fillRect l="0" t="0" r="0" b="0"/>
          </a:stretch>
        </p:blipFill>
        <p:spPr>
          <a:xfrm xmlns:a="http://schemas.openxmlformats.org/drawingml/2006/main">
            <a:off x="878205" y="1830070"/>
            <a:ext cx="1774190" cy="2476500"/>
          </a:xfrm>
          <a:prstGeom xmlns:a="http://schemas.openxmlformats.org/drawingml/2006/main" prst="rect">
            <a:avLst/>
          </a:prstGeom>
        </p:spPr>
      </p:pic>
    </p:spTree>
    <p:extLst>
      <p:ext uri="{BB962C8B-B14F-4D97-AF65-F5344CB8AC3E}">
        <p14:creationId xmlns:p14="http://schemas.microsoft.com/office/powerpoint/2010/main" val="612451931"/>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B4864495-BCEC-4A0C-8B24-892883F7B120}"/>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a:latin typeface="微软雅黑"/>
                <a:ea typeface="微软雅黑"/>
                <a:cs typeface="微软雅黑"/>
              </a:rPr>
              <a:t>2.</a:t>
            </a:r>
            <a:r>
              <a:rPr>
                <a:latin typeface="微软雅黑"/>
                <a:ea typeface="微软雅黑"/>
                <a:cs typeface="微软雅黑"/>
              </a:rPr>
              <a:t>能力模型个人举证</a:t>
            </a:r>
          </a:p>
        </p:txBody>
      </p:sp>
      <p:sp>
        <p:nvSpPr>
          <p:cNvPr id="4" name="文本框 3">
            <a:extLst xmlns:a="http://schemas.openxmlformats.org/drawingml/2006/main">
              <a:ext uri="{FF2B5EF4-FFF2-40B4-BE49-F238E27FC236}">
                <a16:creationId xmlns:a16="http://schemas.microsoft.com/office/drawing/2014/main" id="{277760A8-5E58-4B03-A66D-9FE243094BBF}"/>
              </a:ext>
            </a:extLst>
          </p:cNvPr>
          <p:cNvSpPr>
            <a:spLocks xmlns:a="http://schemas.openxmlformats.org/drawingml/2006/main" noGrp="1"/>
          </p:cNvSpPr>
          <p:nvPr/>
        </p:nvSpPr>
        <p:spPr>
          <a:xfrm xmlns:a="http://schemas.openxmlformats.org/drawingml/2006/main">
            <a:off x="1105535" y="2031365"/>
            <a:ext cx="6937375" cy="33718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ct val="122"/>
              </a:lnSpc>
              <a:buNone/>
            </a:pPr>
            <a:r>
              <a:rPr sz="1600">
                <a:solidFill>
                  <a:schemeClr val="accent1"/>
                </a:solidFill>
                <a:latin typeface="+mj-ea"/>
                <a:ea typeface="+mj-ea"/>
                <a:cs typeface="+mj-ea"/>
              </a:rPr>
              <a:t>1. </a:t>
            </a:r>
            <a:r>
              <a:rPr sz="1600">
                <a:solidFill>
                  <a:schemeClr val="accent1"/>
                </a:solidFill>
                <a:latin typeface="+mj-ea"/>
                <a:ea typeface="+mj-ea"/>
                <a:cs typeface="+mj-ea"/>
              </a:rPr>
              <a:t>前端专业知识体系完整，具备较强的技术深度与架构视角</a:t>
            </a:r>
          </a:p>
        </p:txBody>
      </p:sp>
      <p:sp>
        <p:nvSpPr>
          <p:cNvPr id="6" name="文本框 5">
            <a:extLst xmlns:a="http://schemas.openxmlformats.org/drawingml/2006/main">
              <a:ext uri="{FF2B5EF4-FFF2-40B4-BE49-F238E27FC236}">
                <a16:creationId xmlns:a16="http://schemas.microsoft.com/office/drawing/2014/main" id="{7E189C73-9AD8-46F1-840A-6C333FF60C33}"/>
              </a:ext>
            </a:extLst>
          </p:cNvPr>
          <p:cNvSpPr>
            <a:spLocks xmlns:a="http://schemas.openxmlformats.org/drawingml/2006/main" noGrp="1"/>
          </p:cNvSpPr>
          <p:nvPr/>
        </p:nvSpPr>
        <p:spPr>
          <a:xfrm xmlns:a="http://schemas.openxmlformats.org/drawingml/2006/main">
            <a:off x="1105535" y="4161790"/>
            <a:ext cx="6937375" cy="33718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600">
                <a:solidFill>
                  <a:schemeClr val="accent1"/>
                </a:solidFill>
                <a:latin typeface="+mj-ea"/>
                <a:ea typeface="+mj-ea"/>
                <a:cs typeface="+mj-ea"/>
              </a:rPr>
              <a:t>2. </a:t>
            </a:r>
            <a:r>
              <a:rPr sz="1600">
                <a:solidFill>
                  <a:schemeClr val="accent1"/>
                </a:solidFill>
                <a:latin typeface="+mj-ea"/>
                <a:ea typeface="+mj-ea"/>
                <a:cs typeface="+mj-ea"/>
              </a:rPr>
              <a:t>具备</a:t>
            </a:r>
            <a:r>
              <a:rPr sz="1600">
                <a:solidFill>
                  <a:schemeClr val="accent1"/>
                </a:solidFill>
                <a:latin typeface="+mj-ea"/>
                <a:ea typeface="+mj-ea"/>
                <a:cs typeface="+mj-ea"/>
              </a:rPr>
              <a:t> Node.js </a:t>
            </a:r>
            <a:r>
              <a:rPr sz="1600">
                <a:solidFill>
                  <a:schemeClr val="accent1"/>
                </a:solidFill>
                <a:latin typeface="+mj-ea"/>
                <a:ea typeface="+mj-ea"/>
                <a:cs typeface="+mj-ea"/>
              </a:rPr>
              <a:t>与</a:t>
            </a:r>
            <a:r>
              <a:rPr sz="1600">
                <a:solidFill>
                  <a:schemeClr val="accent1"/>
                </a:solidFill>
                <a:latin typeface="+mj-ea"/>
                <a:ea typeface="+mj-ea"/>
                <a:cs typeface="+mj-ea"/>
              </a:rPr>
              <a:t> Python </a:t>
            </a:r>
            <a:r>
              <a:rPr sz="1600">
                <a:solidFill>
                  <a:schemeClr val="accent1"/>
                </a:solidFill>
                <a:latin typeface="+mj-ea"/>
                <a:ea typeface="+mj-ea"/>
                <a:cs typeface="+mj-ea"/>
              </a:rPr>
              <a:t>能力，全栈开发视角</a:t>
            </a:r>
          </a:p>
        </p:txBody>
      </p:sp>
      <p:sp>
        <p:nvSpPr>
          <p:cNvPr id="8" name="文本框 7">
            <a:extLst xmlns:a="http://schemas.openxmlformats.org/drawingml/2006/main">
              <a:ext uri="{FF2B5EF4-FFF2-40B4-BE49-F238E27FC236}">
                <a16:creationId xmlns:a16="http://schemas.microsoft.com/office/drawing/2014/main" id="{4A5255E4-A616-42D3-804C-5EED432441B9}"/>
              </a:ext>
            </a:extLst>
          </p:cNvPr>
          <p:cNvSpPr>
            <a:spLocks xmlns:a="http://schemas.openxmlformats.org/drawingml/2006/main" noGrp="1"/>
          </p:cNvSpPr>
          <p:nvPr/>
        </p:nvSpPr>
        <p:spPr>
          <a:xfrm xmlns:a="http://schemas.openxmlformats.org/drawingml/2006/main">
            <a:off x="1141730" y="2378710"/>
            <a:ext cx="8140065" cy="127127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ct val="120000"/>
              </a:lnSpc>
              <a:buNone/>
            </a:pPr>
            <a:r>
              <a:rPr sz="1600">
                <a:solidFill>
                  <a:schemeClr val="tx1">
                    <a:lumMod val="75000"/>
                    <a:lumOff val="25000"/>
                  </a:schemeClr>
                </a:solidFill>
                <a:latin typeface="+mj-ea"/>
                <a:ea typeface="+mj-ea"/>
                <a:cs typeface="+mj-ea"/>
              </a:rPr>
              <a:t>系统掌握</a:t>
            </a:r>
            <a:r>
              <a:rPr sz="1600">
                <a:solidFill>
                  <a:schemeClr val="tx1">
                    <a:lumMod val="75000"/>
                    <a:lumOff val="25000"/>
                  </a:schemeClr>
                </a:solidFill>
                <a:latin typeface="+mj-ea"/>
                <a:ea typeface="+mj-ea"/>
                <a:cs typeface="+mj-ea"/>
              </a:rPr>
              <a:t> HTML</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CSS</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JavaScript</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TypeScript</a:t>
            </a:r>
          </a:p>
          <a:p xmlns:a="http://schemas.openxmlformats.org/drawingml/2006/main">
            <a:pPr>
              <a:lnSpc>
                <a:spcPct val="120000"/>
              </a:lnSpc>
              <a:buNone/>
            </a:pPr>
            <a:r>
              <a:rPr sz="1600">
                <a:solidFill>
                  <a:schemeClr val="tx1">
                    <a:lumMod val="75000"/>
                    <a:lumOff val="25000"/>
                  </a:schemeClr>
                </a:solidFill>
                <a:latin typeface="+mj-ea"/>
                <a:ea typeface="+mj-ea"/>
                <a:cs typeface="+mj-ea"/>
              </a:rPr>
              <a:t>熟悉现代前端工程体系</a:t>
            </a:r>
          </a:p>
          <a:p xmlns:a="http://schemas.openxmlformats.org/drawingml/2006/main">
            <a:pPr>
              <a:lnSpc>
                <a:spcPct val="120000"/>
              </a:lnSpc>
              <a:buNone/>
            </a:pPr>
            <a:r>
              <a:rPr sz="1600">
                <a:solidFill>
                  <a:schemeClr val="tx1">
                    <a:lumMod val="75000"/>
                    <a:lumOff val="25000"/>
                  </a:schemeClr>
                </a:solidFill>
                <a:latin typeface="+mj-ea"/>
                <a:ea typeface="+mj-ea"/>
                <a:cs typeface="+mj-ea"/>
              </a:rPr>
              <a:t>能从组件化、规范化、可维护性、扩展性角度做技术判断</a:t>
            </a:r>
          </a:p>
          <a:p xmlns:a="http://schemas.openxmlformats.org/drawingml/2006/main">
            <a:pPr>
              <a:lnSpc>
                <a:spcPct val="120000"/>
              </a:lnSpc>
              <a:buNone/>
            </a:pPr>
            <a:r>
              <a:rPr sz="1600">
                <a:solidFill>
                  <a:schemeClr val="tx1">
                    <a:lumMod val="75000"/>
                    <a:lumOff val="25000"/>
                  </a:schemeClr>
                </a:solidFill>
                <a:latin typeface="+mj-ea"/>
                <a:ea typeface="+mj-ea"/>
                <a:cs typeface="+mj-ea"/>
              </a:rPr>
              <a:t>不只是完成开发，更能支撑前端架构和团队技术决策</a:t>
            </a:r>
          </a:p>
        </p:txBody>
      </p:sp>
      <p:sp>
        <p:nvSpPr>
          <p:cNvPr id="9" name="文本框 8">
            <a:extLst xmlns:a="http://schemas.openxmlformats.org/drawingml/2006/main">
              <a:ext uri="{FF2B5EF4-FFF2-40B4-BE49-F238E27FC236}">
                <a16:creationId xmlns:a16="http://schemas.microsoft.com/office/drawing/2014/main" id="{51E620AB-D0F6-49F8-A1D8-33229DDF2F85}"/>
              </a:ext>
            </a:extLst>
          </p:cNvPr>
          <p:cNvSpPr>
            <a:spLocks xmlns:a="http://schemas.openxmlformats.org/drawingml/2006/main" noGrp="1"/>
          </p:cNvSpPr>
          <p:nvPr/>
        </p:nvSpPr>
        <p:spPr>
          <a:xfrm xmlns:a="http://schemas.openxmlformats.org/drawingml/2006/main">
            <a:off x="1141730" y="4498975"/>
            <a:ext cx="8140065" cy="97599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ct val="120000"/>
              </a:lnSpc>
              <a:buNone/>
            </a:pPr>
            <a:r>
              <a:rPr sz="1600">
                <a:solidFill>
                  <a:schemeClr val="tx1">
                    <a:lumMod val="75000"/>
                    <a:lumOff val="25000"/>
                  </a:schemeClr>
                </a:solidFill>
                <a:latin typeface="+mj-ea"/>
                <a:ea typeface="+mj-ea"/>
                <a:cs typeface="+mj-ea"/>
              </a:rPr>
              <a:t>具备</a:t>
            </a:r>
            <a:r>
              <a:rPr sz="1600">
                <a:solidFill>
                  <a:schemeClr val="tx1">
                    <a:lumMod val="75000"/>
                    <a:lumOff val="25000"/>
                  </a:schemeClr>
                </a:solidFill>
                <a:latin typeface="+mj-ea"/>
                <a:ea typeface="+mj-ea"/>
                <a:cs typeface="+mj-ea"/>
              </a:rPr>
              <a:t> Node.js</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Python </a:t>
            </a:r>
            <a:r>
              <a:rPr sz="1600">
                <a:solidFill>
                  <a:schemeClr val="tx1">
                    <a:lumMod val="75000"/>
                    <a:lumOff val="25000"/>
                  </a:schemeClr>
                </a:solidFill>
                <a:latin typeface="+mj-ea"/>
                <a:ea typeface="+mj-ea"/>
                <a:cs typeface="+mj-ea"/>
              </a:rPr>
              <a:t>开发能力</a:t>
            </a:r>
          </a:p>
          <a:p xmlns:a="http://schemas.openxmlformats.org/drawingml/2006/main">
            <a:pPr>
              <a:lnSpc>
                <a:spcPct val="120000"/>
              </a:lnSpc>
              <a:buNone/>
            </a:pPr>
            <a:r>
              <a:rPr sz="1600">
                <a:solidFill>
                  <a:schemeClr val="tx1">
                    <a:lumMod val="75000"/>
                    <a:lumOff val="25000"/>
                  </a:schemeClr>
                </a:solidFill>
                <a:latin typeface="+mj-ea"/>
                <a:ea typeface="+mj-ea"/>
                <a:cs typeface="+mj-ea"/>
              </a:rPr>
              <a:t>能理解服务端逻辑、数据流转和系统联动关系</a:t>
            </a:r>
          </a:p>
          <a:p xmlns:a="http://schemas.openxmlformats.org/drawingml/2006/main">
            <a:pPr>
              <a:lnSpc>
                <a:spcPct val="120000"/>
              </a:lnSpc>
              <a:buNone/>
            </a:pPr>
            <a:r>
              <a:rPr sz="1600">
                <a:solidFill>
                  <a:schemeClr val="tx1">
                    <a:lumMod val="75000"/>
                    <a:lumOff val="25000"/>
                  </a:schemeClr>
                </a:solidFill>
                <a:latin typeface="+mj-ea"/>
                <a:ea typeface="+mj-ea"/>
                <a:cs typeface="+mj-ea"/>
              </a:rPr>
              <a:t>能更高效识别技术依赖、协作边界和实施风险</a:t>
            </a:r>
          </a:p>
        </p:txBody>
      </p:sp>
      <p:sp>
        <p:nvSpPr>
          <p:cNvPr id="11" name="文本框 10">
            <a:extLst xmlns:a="http://schemas.openxmlformats.org/drawingml/2006/main">
              <a:ext uri="{FF2B5EF4-FFF2-40B4-BE49-F238E27FC236}">
                <a16:creationId xmlns:a16="http://schemas.microsoft.com/office/drawing/2014/main" id="{A67B8983-9650-4F5C-864D-03CAE78CC7B4}"/>
              </a:ext>
            </a:extLst>
          </p:cNvPr>
          <p:cNvSpPr>
            <a:spLocks xmlns:a="http://schemas.openxmlformats.org/drawingml/2006/main" noGrp="1"/>
          </p:cNvSpPr>
          <p:nvPr/>
        </p:nvSpPr>
        <p:spPr>
          <a:xfrm xmlns:a="http://schemas.openxmlformats.org/drawingml/2006/main">
            <a:off x="569595" y="1395730"/>
            <a:ext cx="4064000"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a:solidFill>
                  <a:schemeClr val="accent1"/>
                </a:solidFill>
                <a:latin typeface="+mj-ea"/>
                <a:ea typeface="+mj-ea"/>
                <a:cs typeface="+mj-ea"/>
              </a:rPr>
              <a:t>一</a:t>
            </a:r>
            <a:r>
              <a:rPr sz="2400">
                <a:solidFill>
                  <a:schemeClr val="accent1"/>
                </a:solidFill>
                <a:latin typeface="+mj-ea"/>
                <a:ea typeface="+mj-ea"/>
                <a:cs typeface="+mj-ea"/>
              </a:rPr>
              <a:t>. </a:t>
            </a:r>
            <a:r>
              <a:rPr sz="2400">
                <a:solidFill>
                  <a:schemeClr val="accent1"/>
                </a:solidFill>
                <a:latin typeface="+mj-ea"/>
                <a:ea typeface="+mj-ea"/>
                <a:cs typeface="+mj-ea"/>
              </a:rPr>
              <a:t>知识维度</a:t>
            </a:r>
          </a:p>
        </p:txBody>
      </p:sp>
    </p:spTree>
    <p:extLst>
      <p:ext uri="{BB962C8B-B14F-4D97-AF65-F5344CB8AC3E}">
        <p14:creationId xmlns:p14="http://schemas.microsoft.com/office/powerpoint/2010/main" val="1384630614"/>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C83FF366-664F-45F2-8DBD-C3E0C5744A1D}"/>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a:latin typeface="微软雅黑"/>
                <a:ea typeface="微软雅黑"/>
                <a:cs typeface="微软雅黑"/>
              </a:rPr>
              <a:t>2.</a:t>
            </a:r>
            <a:r>
              <a:rPr>
                <a:latin typeface="微软雅黑"/>
                <a:ea typeface="微软雅黑"/>
                <a:cs typeface="微软雅黑"/>
              </a:rPr>
              <a:t>能力模型个人举证</a:t>
            </a:r>
          </a:p>
        </p:txBody>
      </p:sp>
      <p:sp>
        <p:nvSpPr>
          <p:cNvPr id="6" name="文本框 5">
            <a:extLst xmlns:a="http://schemas.openxmlformats.org/drawingml/2006/main">
              <a:ext uri="{FF2B5EF4-FFF2-40B4-BE49-F238E27FC236}">
                <a16:creationId xmlns:a16="http://schemas.microsoft.com/office/drawing/2014/main" id="{EAF26A39-B5FF-4555-AEAE-D766D1157CF5}"/>
              </a:ext>
            </a:extLst>
          </p:cNvPr>
          <p:cNvSpPr>
            <a:spLocks xmlns:a="http://schemas.openxmlformats.org/drawingml/2006/main" noGrp="1"/>
          </p:cNvSpPr>
          <p:nvPr/>
        </p:nvSpPr>
        <p:spPr>
          <a:xfrm xmlns:a="http://schemas.openxmlformats.org/drawingml/2006/main">
            <a:off x="1141730" y="3284220"/>
            <a:ext cx="6937375" cy="58356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600">
                <a:solidFill>
                  <a:schemeClr val="accent1"/>
                </a:solidFill>
                <a:latin typeface="+mj-ea"/>
                <a:ea typeface="+mj-ea"/>
                <a:cs typeface="+mj-ea"/>
              </a:rPr>
              <a:t>4. </a:t>
            </a:r>
            <a:r>
              <a:rPr sz="1600">
                <a:solidFill>
                  <a:schemeClr val="accent1"/>
                </a:solidFill>
                <a:latin typeface="+mj-ea"/>
                <a:ea typeface="+mj-ea"/>
                <a:cs typeface="+mj-ea"/>
              </a:rPr>
              <a:t>对核心业务模块理解，能高效快速理解产品</a:t>
            </a:r>
            <a:r>
              <a:rPr sz="1600">
                <a:solidFill>
                  <a:schemeClr val="accent1"/>
                </a:solidFill>
                <a:latin typeface="+mj-ea"/>
                <a:ea typeface="+mj-ea"/>
                <a:cs typeface="+mj-ea"/>
              </a:rPr>
              <a:t>/</a:t>
            </a:r>
            <a:r>
              <a:rPr sz="1600">
                <a:solidFill>
                  <a:schemeClr val="accent1"/>
                </a:solidFill>
                <a:latin typeface="+mj-ea"/>
                <a:ea typeface="+mj-ea"/>
                <a:cs typeface="+mj-ea"/>
              </a:rPr>
              <a:t>客户的需求并转化成可落地的技术方案</a:t>
            </a:r>
          </a:p>
        </p:txBody>
      </p:sp>
      <p:sp>
        <p:nvSpPr>
          <p:cNvPr id="7" name="文本框 6">
            <a:extLst xmlns:a="http://schemas.openxmlformats.org/drawingml/2006/main">
              <a:ext uri="{FF2B5EF4-FFF2-40B4-BE49-F238E27FC236}">
                <a16:creationId xmlns:a16="http://schemas.microsoft.com/office/drawing/2014/main" id="{E5872E27-C727-4988-A572-3A86F609542B}"/>
              </a:ext>
            </a:extLst>
          </p:cNvPr>
          <p:cNvSpPr>
            <a:spLocks xmlns:a="http://schemas.openxmlformats.org/drawingml/2006/main" noGrp="1"/>
          </p:cNvSpPr>
          <p:nvPr/>
        </p:nvSpPr>
        <p:spPr>
          <a:xfrm xmlns:a="http://schemas.openxmlformats.org/drawingml/2006/main">
            <a:off x="1105535" y="1459865"/>
            <a:ext cx="6937375" cy="33718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600">
                <a:solidFill>
                  <a:schemeClr val="accent1"/>
                </a:solidFill>
                <a:latin typeface="+mj-ea"/>
                <a:ea typeface="+mj-ea"/>
                <a:cs typeface="+mj-ea"/>
              </a:rPr>
              <a:t>3. </a:t>
            </a:r>
            <a:r>
              <a:rPr sz="1600">
                <a:solidFill>
                  <a:schemeClr val="accent1"/>
                </a:solidFill>
                <a:latin typeface="+mj-ea"/>
                <a:ea typeface="+mj-ea"/>
                <a:cs typeface="+mj-ea"/>
              </a:rPr>
              <a:t>熟悉</a:t>
            </a:r>
            <a:r>
              <a:rPr sz="1600">
                <a:solidFill>
                  <a:schemeClr val="accent1"/>
                </a:solidFill>
                <a:latin typeface="+mj-ea"/>
                <a:ea typeface="+mj-ea"/>
                <a:cs typeface="+mj-ea"/>
              </a:rPr>
              <a:t> AI </a:t>
            </a:r>
            <a:r>
              <a:rPr sz="1600">
                <a:solidFill>
                  <a:schemeClr val="accent1"/>
                </a:solidFill>
                <a:latin typeface="+mj-ea"/>
                <a:ea typeface="+mj-ea"/>
                <a:cs typeface="+mj-ea"/>
              </a:rPr>
              <a:t>应用开发生态，能够支撑智能化产品建设</a:t>
            </a:r>
          </a:p>
        </p:txBody>
      </p:sp>
      <p:sp>
        <p:nvSpPr>
          <p:cNvPr id="8" name="文本框 7">
            <a:extLst xmlns:a="http://schemas.openxmlformats.org/drawingml/2006/main">
              <a:ext uri="{FF2B5EF4-FFF2-40B4-BE49-F238E27FC236}">
                <a16:creationId xmlns:a16="http://schemas.microsoft.com/office/drawing/2014/main" id="{BE779F55-6E5C-412F-A536-FC7453046804}"/>
              </a:ext>
            </a:extLst>
          </p:cNvPr>
          <p:cNvSpPr>
            <a:spLocks xmlns:a="http://schemas.openxmlformats.org/drawingml/2006/main" noGrp="1"/>
          </p:cNvSpPr>
          <p:nvPr/>
        </p:nvSpPr>
        <p:spPr>
          <a:xfrm xmlns:a="http://schemas.openxmlformats.org/drawingml/2006/main">
            <a:off x="1139825" y="1797050"/>
            <a:ext cx="8140065" cy="97599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ct val="120000"/>
              </a:lnSpc>
              <a:buNone/>
            </a:pPr>
            <a:r>
              <a:rPr sz="1600">
                <a:solidFill>
                  <a:schemeClr val="tx1">
                    <a:lumMod val="75000"/>
                    <a:lumOff val="25000"/>
                  </a:schemeClr>
                </a:solidFill>
                <a:latin typeface="+mj-ea"/>
                <a:ea typeface="+mj-ea"/>
                <a:cs typeface="+mj-ea"/>
              </a:rPr>
              <a:t>对</a:t>
            </a:r>
            <a:r>
              <a:rPr sz="1600">
                <a:solidFill>
                  <a:schemeClr val="tx1">
                    <a:lumMod val="75000"/>
                    <a:lumOff val="25000"/>
                  </a:schemeClr>
                </a:solidFill>
                <a:latin typeface="+mj-ea"/>
                <a:ea typeface="+mj-ea"/>
                <a:cs typeface="+mj-ea"/>
              </a:rPr>
              <a:t> AI </a:t>
            </a:r>
            <a:r>
              <a:rPr sz="1600">
                <a:solidFill>
                  <a:schemeClr val="tx1">
                    <a:lumMod val="75000"/>
                    <a:lumOff val="25000"/>
                  </a:schemeClr>
                </a:solidFill>
                <a:latin typeface="+mj-ea"/>
                <a:ea typeface="+mj-ea"/>
                <a:cs typeface="+mj-ea"/>
              </a:rPr>
              <a:t>开发模式和工具生态有系统理解</a:t>
            </a:r>
          </a:p>
          <a:p xmlns:a="http://schemas.openxmlformats.org/drawingml/2006/main">
            <a:pPr>
              <a:lnSpc>
                <a:spcPct val="120000"/>
              </a:lnSpc>
              <a:buNone/>
            </a:pPr>
            <a:r>
              <a:rPr sz="1600">
                <a:solidFill>
                  <a:schemeClr val="tx1">
                    <a:lumMod val="75000"/>
                    <a:lumOff val="25000"/>
                  </a:schemeClr>
                </a:solidFill>
                <a:latin typeface="+mj-ea"/>
                <a:ea typeface="+mj-ea"/>
                <a:cs typeface="+mj-ea"/>
              </a:rPr>
              <a:t>熟悉</a:t>
            </a:r>
            <a:r>
              <a:rPr sz="1600">
                <a:solidFill>
                  <a:schemeClr val="tx1">
                    <a:lumMod val="75000"/>
                    <a:lumOff val="25000"/>
                  </a:schemeClr>
                </a:solidFill>
                <a:latin typeface="+mj-ea"/>
                <a:ea typeface="+mj-ea"/>
                <a:cs typeface="+mj-ea"/>
              </a:rPr>
              <a:t> LangChain </a:t>
            </a:r>
            <a:r>
              <a:rPr sz="1600">
                <a:solidFill>
                  <a:schemeClr val="tx1">
                    <a:lumMod val="75000"/>
                    <a:lumOff val="25000"/>
                  </a:schemeClr>
                </a:solidFill>
                <a:latin typeface="+mj-ea"/>
                <a:ea typeface="+mj-ea"/>
                <a:cs typeface="+mj-ea"/>
              </a:rPr>
              <a:t>系列工具及典型应用场景</a:t>
            </a:r>
          </a:p>
          <a:p xmlns:a="http://schemas.openxmlformats.org/drawingml/2006/main">
            <a:pPr>
              <a:lnSpc>
                <a:spcPct val="120000"/>
              </a:lnSpc>
              <a:buNone/>
            </a:pPr>
            <a:r>
              <a:rPr sz="1600">
                <a:solidFill>
                  <a:schemeClr val="tx1">
                    <a:lumMod val="75000"/>
                    <a:lumOff val="25000"/>
                  </a:schemeClr>
                </a:solidFill>
                <a:latin typeface="+mj-ea"/>
                <a:ea typeface="+mj-ea"/>
                <a:cs typeface="+mj-ea"/>
              </a:rPr>
              <a:t>能从技术生态层面支撑智能化产品建设</a:t>
            </a:r>
          </a:p>
        </p:txBody>
      </p:sp>
      <p:sp>
        <p:nvSpPr>
          <p:cNvPr id="9" name="文本框 8">
            <a:extLst xmlns:a="http://schemas.openxmlformats.org/drawingml/2006/main">
              <a:ext uri="{FF2B5EF4-FFF2-40B4-BE49-F238E27FC236}">
                <a16:creationId xmlns:a16="http://schemas.microsoft.com/office/drawing/2014/main" id="{10B3DA86-DAE7-427C-BFDE-09038C6B4C95}"/>
              </a:ext>
            </a:extLst>
          </p:cNvPr>
          <p:cNvSpPr>
            <a:spLocks xmlns:a="http://schemas.openxmlformats.org/drawingml/2006/main" noGrp="1"/>
          </p:cNvSpPr>
          <p:nvPr/>
        </p:nvSpPr>
        <p:spPr>
          <a:xfrm xmlns:a="http://schemas.openxmlformats.org/drawingml/2006/main">
            <a:off x="1177925" y="3936365"/>
            <a:ext cx="8140065" cy="97599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ct val="120000"/>
              </a:lnSpc>
              <a:buNone/>
            </a:pPr>
            <a:r>
              <a:rPr sz="1600">
                <a:solidFill>
                  <a:schemeClr val="tx1">
                    <a:lumMod val="75000"/>
                    <a:lumOff val="25000"/>
                  </a:schemeClr>
                </a:solidFill>
                <a:latin typeface="+mj-ea"/>
                <a:ea typeface="+mj-ea"/>
                <a:cs typeface="+mj-ea"/>
              </a:rPr>
              <a:t>能从产品能力、用户诉求和系统实现三个层面理解业务</a:t>
            </a:r>
          </a:p>
          <a:p xmlns:a="http://schemas.openxmlformats.org/drawingml/2006/main">
            <a:pPr>
              <a:lnSpc>
                <a:spcPct val="120000"/>
              </a:lnSpc>
              <a:buNone/>
            </a:pPr>
            <a:r>
              <a:rPr sz="1600">
                <a:solidFill>
                  <a:schemeClr val="tx1">
                    <a:lumMod val="75000"/>
                    <a:lumOff val="25000"/>
                  </a:schemeClr>
                </a:solidFill>
                <a:latin typeface="+mj-ea"/>
                <a:ea typeface="+mj-ea"/>
                <a:cs typeface="+mj-ea"/>
              </a:rPr>
              <a:t>能理解需求背后的业务目标和用户真实诉求</a:t>
            </a:r>
          </a:p>
          <a:p xmlns:a="http://schemas.openxmlformats.org/drawingml/2006/main">
            <a:pPr>
              <a:lnSpc>
                <a:spcPct val="120000"/>
              </a:lnSpc>
              <a:buNone/>
            </a:pPr>
            <a:r>
              <a:rPr sz="1600">
                <a:solidFill>
                  <a:schemeClr val="tx1">
                    <a:lumMod val="75000"/>
                    <a:lumOff val="25000"/>
                  </a:schemeClr>
                </a:solidFill>
                <a:latin typeface="+mj-ea"/>
                <a:ea typeface="+mj-ea"/>
                <a:cs typeface="+mj-ea"/>
              </a:rPr>
              <a:t>能在方案评审和项目推进中提供更高质量支撑</a:t>
            </a:r>
          </a:p>
        </p:txBody>
      </p:sp>
    </p:spTree>
    <p:extLst>
      <p:ext uri="{BB962C8B-B14F-4D97-AF65-F5344CB8AC3E}">
        <p14:creationId xmlns:p14="http://schemas.microsoft.com/office/powerpoint/2010/main" val="1268726394"/>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3C222A39-24E8-42DA-BDA1-C58F5864296F}"/>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a:latin typeface="微软雅黑"/>
                <a:ea typeface="微软雅黑"/>
                <a:cs typeface="微软雅黑"/>
              </a:rPr>
              <a:t>2.</a:t>
            </a:r>
            <a:r>
              <a:rPr>
                <a:latin typeface="微软雅黑"/>
                <a:ea typeface="微软雅黑"/>
                <a:cs typeface="微软雅黑"/>
              </a:rPr>
              <a:t>能力模型个人举证</a:t>
            </a:r>
          </a:p>
        </p:txBody>
      </p:sp>
      <p:sp>
        <p:nvSpPr>
          <p:cNvPr id="3" name="文本框 2">
            <a:extLst xmlns:a="http://schemas.openxmlformats.org/drawingml/2006/main">
              <a:ext uri="{FF2B5EF4-FFF2-40B4-BE49-F238E27FC236}">
                <a16:creationId xmlns:a16="http://schemas.microsoft.com/office/drawing/2014/main" id="{BEAE3D2B-FF4E-4866-A699-70CBE82ECCB6}"/>
              </a:ext>
            </a:extLst>
          </p:cNvPr>
          <p:cNvSpPr>
            <a:spLocks xmlns:a="http://schemas.openxmlformats.org/drawingml/2006/main" noGrp="1"/>
          </p:cNvSpPr>
          <p:nvPr/>
        </p:nvSpPr>
        <p:spPr>
          <a:xfrm xmlns:a="http://schemas.openxmlformats.org/drawingml/2006/main">
            <a:off x="569595" y="1395730"/>
            <a:ext cx="4064000"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a:solidFill>
                  <a:schemeClr val="accent1"/>
                </a:solidFill>
                <a:latin typeface="+mj-ea"/>
                <a:ea typeface="+mj-ea"/>
                <a:cs typeface="+mj-ea"/>
              </a:rPr>
              <a:t>二</a:t>
            </a:r>
            <a:r>
              <a:rPr sz="2400">
                <a:solidFill>
                  <a:schemeClr val="accent1"/>
                </a:solidFill>
                <a:latin typeface="+mj-ea"/>
                <a:ea typeface="+mj-ea"/>
                <a:cs typeface="+mj-ea"/>
              </a:rPr>
              <a:t>. </a:t>
            </a:r>
            <a:r>
              <a:rPr sz="2400">
                <a:solidFill>
                  <a:schemeClr val="accent1"/>
                </a:solidFill>
                <a:latin typeface="+mj-ea"/>
                <a:ea typeface="+mj-ea"/>
                <a:cs typeface="+mj-ea"/>
              </a:rPr>
              <a:t>技能能力维度</a:t>
            </a:r>
          </a:p>
        </p:txBody>
      </p:sp>
      <p:sp>
        <p:nvSpPr>
          <p:cNvPr id="7" name="文本框 6">
            <a:extLst xmlns:a="http://schemas.openxmlformats.org/drawingml/2006/main">
              <a:ext uri="{FF2B5EF4-FFF2-40B4-BE49-F238E27FC236}">
                <a16:creationId xmlns:a16="http://schemas.microsoft.com/office/drawing/2014/main" id="{A03BBF5D-31C1-45E7-A3B2-F6B613C79603}"/>
              </a:ext>
            </a:extLst>
          </p:cNvPr>
          <p:cNvSpPr>
            <a:spLocks xmlns:a="http://schemas.openxmlformats.org/drawingml/2006/main" noGrp="1"/>
          </p:cNvSpPr>
          <p:nvPr/>
        </p:nvSpPr>
        <p:spPr>
          <a:xfrm xmlns:a="http://schemas.openxmlformats.org/drawingml/2006/main">
            <a:off x="1107440" y="2041525"/>
            <a:ext cx="6937375" cy="3987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000">
                <a:solidFill>
                  <a:schemeClr val="accent1"/>
                </a:solidFill>
                <a:latin typeface="+mj-ea"/>
                <a:ea typeface="+mj-ea"/>
                <a:cs typeface="+mj-ea"/>
              </a:rPr>
              <a:t>1. </a:t>
            </a:r>
            <a:r>
              <a:rPr sz="2000">
                <a:solidFill>
                  <a:schemeClr val="accent1"/>
                </a:solidFill>
                <a:latin typeface="+mj-ea"/>
                <a:ea typeface="+mj-ea"/>
                <a:cs typeface="+mj-ea"/>
              </a:rPr>
              <a:t>前端技术栈应用与模块化设计与组件抽象能力</a:t>
            </a:r>
          </a:p>
        </p:txBody>
      </p:sp>
      <p:sp>
        <p:nvSpPr>
          <p:cNvPr id="8" name="文本框 7">
            <a:extLst xmlns:a="http://schemas.openxmlformats.org/drawingml/2006/main">
              <a:ext uri="{FF2B5EF4-FFF2-40B4-BE49-F238E27FC236}">
                <a16:creationId xmlns:a16="http://schemas.microsoft.com/office/drawing/2014/main" id="{91570E85-D9AB-43DB-A752-A5214643781F}"/>
              </a:ext>
            </a:extLst>
          </p:cNvPr>
          <p:cNvSpPr>
            <a:spLocks xmlns:a="http://schemas.openxmlformats.org/drawingml/2006/main" noGrp="1"/>
          </p:cNvSpPr>
          <p:nvPr/>
        </p:nvSpPr>
        <p:spPr>
          <a:xfrm xmlns:a="http://schemas.openxmlformats.org/drawingml/2006/main">
            <a:off x="1211580" y="2625725"/>
            <a:ext cx="8140065" cy="215582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ct val="120000"/>
              </a:lnSpc>
              <a:buNone/>
            </a:pPr>
            <a:r>
              <a:rPr sz="1600">
                <a:solidFill>
                  <a:schemeClr val="tx1">
                    <a:lumMod val="75000"/>
                    <a:lumOff val="25000"/>
                  </a:schemeClr>
                </a:solidFill>
                <a:latin typeface="+mj-ea"/>
                <a:ea typeface="+mj-ea"/>
                <a:cs typeface="+mj-ea"/>
              </a:rPr>
              <a:t>重视跨项目能力复用和统一架构建设。我将问答、写作、图谱等多个产品方向中可以通用的能力进行梳理、拆分和沉淀，形成了一套能够支撑不同业务场景快速集成的前端能力框架。</a:t>
            </a:r>
          </a:p>
          <a:p xmlns:a="http://schemas.openxmlformats.org/drawingml/2006/main">
            <a:pPr>
              <a:lnSpc>
                <a:spcPct val="120000"/>
              </a:lnSpc>
              <a:buNone/>
            </a:pPr>
            <a:r>
              <a:rPr sz="1600">
                <a:solidFill>
                  <a:schemeClr val="tx1">
                    <a:lumMod val="75000"/>
                    <a:lumOff val="25000"/>
                  </a:schemeClr>
                </a:solidFill>
                <a:latin typeface="+mj-ea"/>
                <a:ea typeface="+mj-ea"/>
                <a:cs typeface="+mj-ea"/>
              </a:rPr>
              <a:t>比如</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智能问答和智能写作场景，我基于</a:t>
            </a:r>
            <a:r>
              <a:rPr sz="1600">
                <a:solidFill>
                  <a:schemeClr val="tx1">
                    <a:lumMod val="75000"/>
                    <a:lumOff val="25000"/>
                  </a:schemeClr>
                </a:solidFill>
                <a:latin typeface="+mj-ea"/>
                <a:ea typeface="+mj-ea"/>
                <a:cs typeface="+mj-ea"/>
              </a:rPr>
              <a:t> Slate </a:t>
            </a:r>
            <a:r>
              <a:rPr sz="1600">
                <a:solidFill>
                  <a:schemeClr val="tx1">
                    <a:lumMod val="75000"/>
                    <a:lumOff val="25000"/>
                  </a:schemeClr>
                </a:solidFill>
                <a:latin typeface="+mj-ea"/>
                <a:ea typeface="+mj-ea"/>
                <a:cs typeface="+mj-ea"/>
              </a:rPr>
              <a:t>封装了支持富文本录入和渲染的核心组件能力，使系统能够承载更复杂的内容交互和展示需求。在具体实现中，我支持了多种自定义复杂数据的渲染，包括图标、数学公式、溯源标签等内容元素，使富文本组件能够更好适配智能问答和智能写作场景下对结构化内容、增强表达和可信结果展示的需求。</a:t>
            </a:r>
          </a:p>
        </p:txBody>
      </p:sp>
    </p:spTree>
    <p:extLst>
      <p:ext uri="{BB962C8B-B14F-4D97-AF65-F5344CB8AC3E}">
        <p14:creationId xmlns:p14="http://schemas.microsoft.com/office/powerpoint/2010/main" val="861411412"/>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F25174B9-5604-4F30-9CF5-DB22A2B69BD6}"/>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a:latin typeface="微软雅黑"/>
                <a:ea typeface="微软雅黑"/>
                <a:cs typeface="微软雅黑"/>
              </a:rPr>
              <a:t>2.</a:t>
            </a:r>
            <a:r>
              <a:rPr>
                <a:latin typeface="微软雅黑"/>
                <a:ea typeface="微软雅黑"/>
                <a:cs typeface="微软雅黑"/>
              </a:rPr>
              <a:t>能力模型个人举证</a:t>
            </a:r>
          </a:p>
        </p:txBody>
      </p:sp>
      <p:sp>
        <p:nvSpPr>
          <p:cNvPr id="7" name="文本框 6">
            <a:extLst xmlns:a="http://schemas.openxmlformats.org/drawingml/2006/main">
              <a:ext uri="{FF2B5EF4-FFF2-40B4-BE49-F238E27FC236}">
                <a16:creationId xmlns:a16="http://schemas.microsoft.com/office/drawing/2014/main" id="{EAA600BD-9109-4AE1-8767-C034BE74F07E}"/>
              </a:ext>
            </a:extLst>
          </p:cNvPr>
          <p:cNvSpPr>
            <a:spLocks xmlns:a="http://schemas.openxmlformats.org/drawingml/2006/main" noGrp="1"/>
          </p:cNvSpPr>
          <p:nvPr/>
        </p:nvSpPr>
        <p:spPr>
          <a:xfrm xmlns:a="http://schemas.openxmlformats.org/drawingml/2006/main">
            <a:off x="1107440" y="1517015"/>
            <a:ext cx="6937375" cy="70675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000">
                <a:solidFill>
                  <a:schemeClr val="accent1"/>
                </a:solidFill>
                <a:latin typeface="+mj-ea"/>
                <a:ea typeface="+mj-ea"/>
                <a:cs typeface="+mj-ea"/>
              </a:rPr>
              <a:t>2. </a:t>
            </a:r>
            <a:r>
              <a:rPr sz="2000">
                <a:solidFill>
                  <a:schemeClr val="accent1"/>
                </a:solidFill>
                <a:latin typeface="+mj-ea"/>
                <a:ea typeface="+mj-ea"/>
                <a:cs typeface="+mj-ea"/>
              </a:rPr>
              <a:t>具备工程提效和工具建设能力，能够通过自动化手段提升团队交付效率</a:t>
            </a:r>
          </a:p>
        </p:txBody>
      </p:sp>
      <p:sp>
        <p:nvSpPr>
          <p:cNvPr id="8" name="文本框 7">
            <a:extLst xmlns:a="http://schemas.openxmlformats.org/drawingml/2006/main">
              <a:ext uri="{FF2B5EF4-FFF2-40B4-BE49-F238E27FC236}">
                <a16:creationId xmlns:a16="http://schemas.microsoft.com/office/drawing/2014/main" id="{86FF11D8-6363-4994-A034-EC05DE67DF09}"/>
              </a:ext>
            </a:extLst>
          </p:cNvPr>
          <p:cNvSpPr>
            <a:spLocks xmlns:a="http://schemas.openxmlformats.org/drawingml/2006/main" noGrp="1"/>
          </p:cNvSpPr>
          <p:nvPr/>
        </p:nvSpPr>
        <p:spPr>
          <a:xfrm xmlns:a="http://schemas.openxmlformats.org/drawingml/2006/main">
            <a:off x="1107440" y="2327910"/>
            <a:ext cx="8140065" cy="24511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ct val="120000"/>
              </a:lnSpc>
              <a:buNone/>
            </a:pPr>
            <a:r>
              <a:rPr sz="1600">
                <a:solidFill>
                  <a:schemeClr val="tx1">
                    <a:lumMod val="75000"/>
                    <a:lumOff val="25000"/>
                  </a:schemeClr>
                </a:solidFill>
                <a:latin typeface="+mj-ea"/>
                <a:ea typeface="+mj-ea"/>
                <a:cs typeface="+mj-ea"/>
              </a:rPr>
              <a:t>具备较强的工程提效意识和工具建设能力，能够通过自动化脚本和辅助工具建设帮助团队提升开发、打包、发布和部署效率。</a:t>
            </a:r>
          </a:p>
          <a:p xmlns:a="http://schemas.openxmlformats.org/drawingml/2006/main">
            <a:pPr>
              <a:lnSpc>
                <a:spcPct val="120000"/>
              </a:lnSpc>
              <a:buNone/>
            </a:pPr>
            <a:r>
              <a:rPr sz="1600">
                <a:solidFill>
                  <a:schemeClr val="tx1">
                    <a:lumMod val="75000"/>
                    <a:lumOff val="25000"/>
                  </a:schemeClr>
                </a:solidFill>
                <a:latin typeface="+mj-ea"/>
                <a:ea typeface="+mj-ea"/>
                <a:cs typeface="+mj-ea"/>
              </a:rPr>
              <a:t>在实际工作中，我开发了多类辅助工具和脚本，例如：</a:t>
            </a:r>
          </a:p>
          <a:p xmlns:a="http://schemas.openxmlformats.org/drawingml/2006/main">
            <a:pPr>
              <a:lnSpc>
                <a:spcPct val="120000"/>
              </a:lnSpc>
              <a:buNone/>
            </a:pPr>
            <a:r>
              <a:rPr sz="1600">
                <a:solidFill>
                  <a:schemeClr val="tx1">
                    <a:lumMod val="75000"/>
                    <a:lumOff val="25000"/>
                  </a:schemeClr>
                </a:solidFill>
                <a:latin typeface="+mj-ea"/>
                <a:ea typeface="+mj-ea"/>
                <a:cs typeface="+mj-ea"/>
              </a:rPr>
              <a:t>用于帮助团队快速完成打包、发布和部署的自动化脚本</a:t>
            </a:r>
          </a:p>
          <a:p xmlns:a="http://schemas.openxmlformats.org/drawingml/2006/main">
            <a:pPr>
              <a:lnSpc>
                <a:spcPct val="120000"/>
              </a:lnSpc>
              <a:buNone/>
            </a:pPr>
            <a:r>
              <a:rPr sz="1600">
                <a:solidFill>
                  <a:schemeClr val="tx1">
                    <a:lumMod val="75000"/>
                    <a:lumOff val="25000"/>
                  </a:schemeClr>
                </a:solidFill>
                <a:latin typeface="+mj-ea"/>
                <a:ea typeface="+mj-ea"/>
                <a:cs typeface="+mj-ea"/>
              </a:rPr>
              <a:t>面向组件体系的</a:t>
            </a:r>
            <a:r>
              <a:rPr sz="1600">
                <a:solidFill>
                  <a:schemeClr val="tx1">
                    <a:lumMod val="75000"/>
                    <a:lumOff val="25000"/>
                  </a:schemeClr>
                </a:solidFill>
                <a:latin typeface="+mj-ea"/>
                <a:ea typeface="+mj-ea"/>
                <a:cs typeface="+mj-ea"/>
              </a:rPr>
              <a:t> AI </a:t>
            </a:r>
            <a:r>
              <a:rPr sz="1600">
                <a:solidFill>
                  <a:schemeClr val="tx1">
                    <a:lumMod val="75000"/>
                    <a:lumOff val="25000"/>
                  </a:schemeClr>
                </a:solidFill>
                <a:latin typeface="+mj-ea"/>
                <a:ea typeface="+mj-ea"/>
                <a:cs typeface="+mj-ea"/>
              </a:rPr>
              <a:t>辅助文档工具，用于自动生成和部署组件文档，帮助团队成员更快理解组件架构、接口定义和使用方式</a:t>
            </a:r>
          </a:p>
          <a:p xmlns:a="http://schemas.openxmlformats.org/drawingml/2006/main">
            <a:pPr>
              <a:lnSpc>
                <a:spcPct val="120000"/>
              </a:lnSpc>
              <a:buNone/>
            </a:pPr>
            <a:r>
              <a:rPr sz="1600">
                <a:solidFill>
                  <a:schemeClr val="tx1">
                    <a:lumMod val="75000"/>
                    <a:lumOff val="25000"/>
                  </a:schemeClr>
                </a:solidFill>
                <a:latin typeface="+mj-ea"/>
                <a:ea typeface="+mj-ea"/>
                <a:cs typeface="+mj-ea"/>
              </a:rPr>
              <a:t>团队跨端版本管理工具，用于统一产品版本，并追溯前端、后端、算法之间对应的代码编译版本</a:t>
            </a:r>
          </a:p>
        </p:txBody>
      </p:sp>
    </p:spTree>
    <p:extLst>
      <p:ext uri="{BB962C8B-B14F-4D97-AF65-F5344CB8AC3E}">
        <p14:creationId xmlns:p14="http://schemas.microsoft.com/office/powerpoint/2010/main" val="62858486"/>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59CA4B04-7125-4CAA-8CF6-3569555D6DEA}"/>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a:latin typeface="微软雅黑"/>
                <a:ea typeface="微软雅黑"/>
                <a:cs typeface="微软雅黑"/>
              </a:rPr>
              <a:t>2.</a:t>
            </a:r>
            <a:r>
              <a:rPr>
                <a:latin typeface="微软雅黑"/>
                <a:ea typeface="微软雅黑"/>
                <a:cs typeface="微软雅黑"/>
              </a:rPr>
              <a:t>能力模型个人举证</a:t>
            </a:r>
          </a:p>
        </p:txBody>
      </p:sp>
      <p:sp>
        <p:nvSpPr>
          <p:cNvPr id="7" name="文本框 6">
            <a:extLst xmlns:a="http://schemas.openxmlformats.org/drawingml/2006/main">
              <a:ext uri="{FF2B5EF4-FFF2-40B4-BE49-F238E27FC236}">
                <a16:creationId xmlns:a16="http://schemas.microsoft.com/office/drawing/2014/main" id="{9141A290-BFFC-4894-B101-607BF3129BC3}"/>
              </a:ext>
            </a:extLst>
          </p:cNvPr>
          <p:cNvSpPr>
            <a:spLocks xmlns:a="http://schemas.openxmlformats.org/drawingml/2006/main" noGrp="1"/>
          </p:cNvSpPr>
          <p:nvPr/>
        </p:nvSpPr>
        <p:spPr>
          <a:xfrm xmlns:a="http://schemas.openxmlformats.org/drawingml/2006/main">
            <a:off x="1107440" y="1517015"/>
            <a:ext cx="6937375" cy="70675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000">
                <a:solidFill>
                  <a:schemeClr val="accent1"/>
                </a:solidFill>
                <a:latin typeface="+mj-ea"/>
                <a:ea typeface="+mj-ea"/>
                <a:cs typeface="+mj-ea"/>
              </a:rPr>
              <a:t>3. AI </a:t>
            </a:r>
            <a:r>
              <a:rPr sz="2000">
                <a:solidFill>
                  <a:schemeClr val="accent1"/>
                </a:solidFill>
                <a:latin typeface="+mj-ea"/>
                <a:ea typeface="+mj-ea"/>
                <a:cs typeface="+mj-ea"/>
              </a:rPr>
              <a:t>工具应用推广和团队赋能能力，能够推动新技术在团队内落地</a:t>
            </a:r>
          </a:p>
        </p:txBody>
      </p:sp>
      <p:sp>
        <p:nvSpPr>
          <p:cNvPr id="8" name="文本框 7">
            <a:extLst xmlns:a="http://schemas.openxmlformats.org/drawingml/2006/main">
              <a:ext uri="{FF2B5EF4-FFF2-40B4-BE49-F238E27FC236}">
                <a16:creationId xmlns:a16="http://schemas.microsoft.com/office/drawing/2014/main" id="{D109BC35-466A-4A9D-A2B8-65FE574EB94D}"/>
              </a:ext>
            </a:extLst>
          </p:cNvPr>
          <p:cNvSpPr>
            <a:spLocks xmlns:a="http://schemas.openxmlformats.org/drawingml/2006/main" noGrp="1"/>
          </p:cNvSpPr>
          <p:nvPr/>
        </p:nvSpPr>
        <p:spPr>
          <a:xfrm xmlns:a="http://schemas.openxmlformats.org/drawingml/2006/main">
            <a:off x="1107440" y="2351405"/>
            <a:ext cx="8140065" cy="215582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ct val="120000"/>
              </a:lnSpc>
              <a:buNone/>
            </a:pPr>
            <a:r>
              <a:rPr sz="1600">
                <a:solidFill>
                  <a:schemeClr val="tx1">
                    <a:lumMod val="75000"/>
                    <a:lumOff val="25000"/>
                  </a:schemeClr>
                </a:solidFill>
                <a:latin typeface="+mj-ea"/>
                <a:ea typeface="+mj-ea"/>
                <a:cs typeface="+mj-ea"/>
              </a:rPr>
              <a:t>在技术技能之外，我也持续推动</a:t>
            </a:r>
            <a:r>
              <a:rPr sz="1600">
                <a:solidFill>
                  <a:schemeClr val="tx1">
                    <a:lumMod val="75000"/>
                    <a:lumOff val="25000"/>
                  </a:schemeClr>
                </a:solidFill>
                <a:latin typeface="+mj-ea"/>
                <a:ea typeface="+mj-ea"/>
                <a:cs typeface="+mj-ea"/>
              </a:rPr>
              <a:t> AI </a:t>
            </a:r>
            <a:r>
              <a:rPr sz="1600">
                <a:solidFill>
                  <a:schemeClr val="tx1">
                    <a:lumMod val="75000"/>
                    <a:lumOff val="25000"/>
                  </a:schemeClr>
                </a:solidFill>
                <a:latin typeface="+mj-ea"/>
                <a:ea typeface="+mj-ea"/>
                <a:cs typeface="+mj-ea"/>
              </a:rPr>
              <a:t>编程工具和智能开发方式在团队内部落地，帮助团队成员提升研发效率并建立更统一的</a:t>
            </a:r>
            <a:r>
              <a:rPr sz="1600">
                <a:solidFill>
                  <a:schemeClr val="tx1">
                    <a:lumMod val="75000"/>
                    <a:lumOff val="25000"/>
                  </a:schemeClr>
                </a:solidFill>
                <a:latin typeface="+mj-ea"/>
                <a:ea typeface="+mj-ea"/>
                <a:cs typeface="+mj-ea"/>
              </a:rPr>
              <a:t> AI </a:t>
            </a:r>
            <a:r>
              <a:rPr sz="1600">
                <a:solidFill>
                  <a:schemeClr val="tx1">
                    <a:lumMod val="75000"/>
                    <a:lumOff val="25000"/>
                  </a:schemeClr>
                </a:solidFill>
                <a:latin typeface="+mj-ea"/>
                <a:ea typeface="+mj-ea"/>
                <a:cs typeface="+mj-ea"/>
              </a:rPr>
              <a:t>使用规范。</a:t>
            </a:r>
          </a:p>
          <a:p xmlns:a="http://schemas.openxmlformats.org/drawingml/2006/main">
            <a:pPr>
              <a:lnSpc>
                <a:spcPct val="120000"/>
              </a:lnSpc>
              <a:buNone/>
            </a:pPr>
          </a:p>
          <a:p xmlns:a="http://schemas.openxmlformats.org/drawingml/2006/main">
            <a:pPr>
              <a:lnSpc>
                <a:spcPct val="120000"/>
              </a:lnSpc>
              <a:buNone/>
            </a:pPr>
            <a:r>
              <a:rPr sz="1600">
                <a:solidFill>
                  <a:schemeClr val="tx1">
                    <a:lumMod val="75000"/>
                    <a:lumOff val="25000"/>
                  </a:schemeClr>
                </a:solidFill>
                <a:latin typeface="+mj-ea"/>
                <a:ea typeface="+mj-ea"/>
                <a:cs typeface="+mj-ea"/>
              </a:rPr>
              <a:t>在具体实践中，我组织并培训小组成员使用</a:t>
            </a:r>
            <a:r>
              <a:rPr sz="1600">
                <a:solidFill>
                  <a:schemeClr val="tx1">
                    <a:lumMod val="75000"/>
                    <a:lumOff val="25000"/>
                  </a:schemeClr>
                </a:solidFill>
                <a:latin typeface="+mj-ea"/>
                <a:ea typeface="+mj-ea"/>
                <a:cs typeface="+mj-ea"/>
              </a:rPr>
              <a:t> Cursor</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OpenCode </a:t>
            </a:r>
            <a:r>
              <a:rPr sz="1600">
                <a:solidFill>
                  <a:schemeClr val="tx1">
                    <a:lumMod val="75000"/>
                    <a:lumOff val="25000"/>
                  </a:schemeClr>
                </a:solidFill>
                <a:latin typeface="+mj-ea"/>
                <a:ea typeface="+mj-ea"/>
                <a:cs typeface="+mj-ea"/>
              </a:rPr>
              <a:t>等</a:t>
            </a:r>
            <a:r>
              <a:rPr sz="1600">
                <a:solidFill>
                  <a:schemeClr val="tx1">
                    <a:lumMod val="75000"/>
                    <a:lumOff val="25000"/>
                  </a:schemeClr>
                </a:solidFill>
                <a:latin typeface="+mj-ea"/>
                <a:ea typeface="+mj-ea"/>
                <a:cs typeface="+mj-ea"/>
              </a:rPr>
              <a:t> AI </a:t>
            </a:r>
            <a:r>
              <a:rPr sz="1600">
                <a:solidFill>
                  <a:schemeClr val="tx1">
                    <a:lumMod val="75000"/>
                    <a:lumOff val="25000"/>
                  </a:schemeClr>
                </a:solidFill>
                <a:latin typeface="+mj-ea"/>
                <a:ea typeface="+mj-ea"/>
                <a:cs typeface="+mj-ea"/>
              </a:rPr>
              <a:t>编程工具，帮助成员理解如何在实际研发中高效使用这些工具提升编码、调试和方案产出效率。同时，我也推动团队成员学习和实践</a:t>
            </a:r>
            <a:r>
              <a:rPr sz="1600">
                <a:solidFill>
                  <a:schemeClr val="tx1">
                    <a:lumMod val="75000"/>
                    <a:lumOff val="25000"/>
                  </a:schemeClr>
                </a:solidFill>
                <a:latin typeface="+mj-ea"/>
                <a:ea typeface="+mj-ea"/>
                <a:cs typeface="+mj-ea"/>
              </a:rPr>
              <a:t> MCP</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Skill </a:t>
            </a:r>
            <a:r>
              <a:rPr sz="1600">
                <a:solidFill>
                  <a:schemeClr val="tx1">
                    <a:lumMod val="75000"/>
                    <a:lumOff val="25000"/>
                  </a:schemeClr>
                </a:solidFill>
                <a:latin typeface="+mj-ea"/>
                <a:ea typeface="+mj-ea"/>
                <a:cs typeface="+mj-ea"/>
              </a:rPr>
              <a:t>编写，并将相关经验沉淀后分享给团队成员，帮助大家在</a:t>
            </a:r>
            <a:r>
              <a:rPr sz="1600">
                <a:solidFill>
                  <a:schemeClr val="tx1">
                    <a:lumMod val="75000"/>
                    <a:lumOff val="25000"/>
                  </a:schemeClr>
                </a:solidFill>
                <a:latin typeface="+mj-ea"/>
                <a:ea typeface="+mj-ea"/>
                <a:cs typeface="+mj-ea"/>
              </a:rPr>
              <a:t> AI </a:t>
            </a:r>
            <a:r>
              <a:rPr sz="1600">
                <a:solidFill>
                  <a:schemeClr val="tx1">
                    <a:lumMod val="75000"/>
                    <a:lumOff val="25000"/>
                  </a:schemeClr>
                </a:solidFill>
                <a:latin typeface="+mj-ea"/>
                <a:ea typeface="+mj-ea"/>
                <a:cs typeface="+mj-ea"/>
              </a:rPr>
              <a:t>能力接入、工具调用和开发协作方面形成更清晰的方法。</a:t>
            </a:r>
          </a:p>
        </p:txBody>
      </p:sp>
    </p:spTree>
    <p:extLst>
      <p:ext uri="{BB962C8B-B14F-4D97-AF65-F5344CB8AC3E}">
        <p14:creationId xmlns:p14="http://schemas.microsoft.com/office/powerpoint/2010/main" val="511600988"/>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458D30A1-9DD3-4257-86E2-3894C28E854D}"/>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a:latin typeface="微软雅黑"/>
                <a:ea typeface="微软雅黑"/>
                <a:cs typeface="微软雅黑"/>
              </a:rPr>
              <a:t>2.</a:t>
            </a:r>
            <a:r>
              <a:rPr>
                <a:latin typeface="微软雅黑"/>
                <a:ea typeface="微软雅黑"/>
                <a:cs typeface="微软雅黑"/>
              </a:rPr>
              <a:t>能力模型个人举证</a:t>
            </a:r>
          </a:p>
        </p:txBody>
      </p:sp>
      <p:sp>
        <p:nvSpPr>
          <p:cNvPr id="3" name="文本框 2">
            <a:extLst xmlns:a="http://schemas.openxmlformats.org/drawingml/2006/main">
              <a:ext uri="{FF2B5EF4-FFF2-40B4-BE49-F238E27FC236}">
                <a16:creationId xmlns:a16="http://schemas.microsoft.com/office/drawing/2014/main" id="{007A6903-8E3C-417F-8987-5412C5B0E89A}"/>
              </a:ext>
            </a:extLst>
          </p:cNvPr>
          <p:cNvSpPr>
            <a:spLocks xmlns:a="http://schemas.openxmlformats.org/drawingml/2006/main" noGrp="1"/>
          </p:cNvSpPr>
          <p:nvPr/>
        </p:nvSpPr>
        <p:spPr>
          <a:xfrm xmlns:a="http://schemas.openxmlformats.org/drawingml/2006/main">
            <a:off x="569595" y="1247140"/>
            <a:ext cx="4064000"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a:solidFill>
                  <a:schemeClr val="accent1"/>
                </a:solidFill>
                <a:latin typeface="+mj-ea"/>
                <a:ea typeface="+mj-ea"/>
                <a:cs typeface="+mj-ea"/>
              </a:rPr>
              <a:t>三</a:t>
            </a:r>
            <a:r>
              <a:rPr sz="2400">
                <a:solidFill>
                  <a:schemeClr val="accent1"/>
                </a:solidFill>
                <a:latin typeface="+mj-ea"/>
                <a:ea typeface="+mj-ea"/>
                <a:cs typeface="+mj-ea"/>
              </a:rPr>
              <a:t>. </a:t>
            </a:r>
            <a:r>
              <a:rPr sz="2400">
                <a:solidFill>
                  <a:schemeClr val="accent1"/>
                </a:solidFill>
                <a:latin typeface="+mj-ea"/>
                <a:ea typeface="+mj-ea"/>
                <a:cs typeface="+mj-ea"/>
              </a:rPr>
              <a:t>研发</a:t>
            </a:r>
            <a:r>
              <a:rPr sz="2400">
                <a:solidFill>
                  <a:schemeClr val="accent1"/>
                </a:solidFill>
                <a:latin typeface="+mj-ea"/>
                <a:ea typeface="+mj-ea"/>
                <a:cs typeface="+mj-ea"/>
              </a:rPr>
              <a:t>项目</a:t>
            </a:r>
          </a:p>
        </p:txBody>
      </p:sp>
      <p:sp>
        <p:nvSpPr>
          <p:cNvPr id="6" name="文本框 5">
            <a:extLst xmlns:a="http://schemas.openxmlformats.org/drawingml/2006/main">
              <a:ext uri="{FF2B5EF4-FFF2-40B4-BE49-F238E27FC236}">
                <a16:creationId xmlns:a16="http://schemas.microsoft.com/office/drawing/2014/main" id="{CC22C7D2-2154-436E-B63D-766407D8F547}"/>
              </a:ext>
            </a:extLst>
          </p:cNvPr>
          <p:cNvSpPr>
            <a:spLocks xmlns:a="http://schemas.openxmlformats.org/drawingml/2006/main" noGrp="1"/>
          </p:cNvSpPr>
          <p:nvPr/>
        </p:nvSpPr>
        <p:spPr>
          <a:xfrm xmlns:a="http://schemas.openxmlformats.org/drawingml/2006/main">
            <a:off x="569595" y="1781810"/>
            <a:ext cx="6937375" cy="3987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000">
                <a:solidFill>
                  <a:schemeClr val="accent1"/>
                </a:solidFill>
                <a:latin typeface="+mj-ea"/>
                <a:ea typeface="+mj-ea"/>
                <a:cs typeface="+mj-ea"/>
              </a:rPr>
              <a:t>1. </a:t>
            </a:r>
            <a:r>
              <a:rPr sz="2000">
                <a:solidFill>
                  <a:schemeClr val="accent1"/>
                </a:solidFill>
                <a:latin typeface="+mj-ea"/>
                <a:ea typeface="+mj-ea"/>
                <a:cs typeface="+mj-ea"/>
              </a:rPr>
              <a:t>从</a:t>
            </a:r>
            <a:r>
              <a:rPr sz="2000">
                <a:solidFill>
                  <a:schemeClr val="accent1"/>
                </a:solidFill>
                <a:latin typeface="+mj-ea"/>
                <a:ea typeface="+mj-ea"/>
                <a:cs typeface="+mj-ea"/>
              </a:rPr>
              <a:t>0-1</a:t>
            </a:r>
            <a:r>
              <a:rPr sz="2000">
                <a:solidFill>
                  <a:schemeClr val="accent1"/>
                </a:solidFill>
                <a:latin typeface="+mj-ea"/>
                <a:ea typeface="+mj-ea"/>
                <a:cs typeface="+mj-ea"/>
              </a:rPr>
              <a:t>带领团队完成</a:t>
            </a:r>
            <a:r>
              <a:rPr sz="2000">
                <a:solidFill>
                  <a:schemeClr val="accent1"/>
                </a:solidFill>
                <a:latin typeface="+mj-ea"/>
                <a:ea typeface="+mj-ea"/>
                <a:cs typeface="+mj-ea"/>
              </a:rPr>
              <a:t>核心业务项目</a:t>
            </a:r>
          </a:p>
        </p:txBody>
      </p:sp>
      <p:sp>
        <p:nvSpPr>
          <p:cNvPr id="10" name="文本框 9">
            <a:extLst xmlns:a="http://schemas.openxmlformats.org/drawingml/2006/main">
              <a:ext uri="{FF2B5EF4-FFF2-40B4-BE49-F238E27FC236}">
                <a16:creationId xmlns:a16="http://schemas.microsoft.com/office/drawing/2014/main" id="{BD614988-C6BA-4A02-B054-E726560FF16E}"/>
              </a:ext>
            </a:extLst>
          </p:cNvPr>
          <p:cNvSpPr>
            <a:spLocks xmlns:a="http://schemas.openxmlformats.org/drawingml/2006/main" noGrp="1"/>
          </p:cNvSpPr>
          <p:nvPr/>
        </p:nvSpPr>
        <p:spPr>
          <a:xfrm xmlns:a="http://schemas.openxmlformats.org/drawingml/2006/main">
            <a:off x="569595" y="2180590"/>
            <a:ext cx="10770235" cy="392557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ct val="120000"/>
              </a:lnSpc>
              <a:buNone/>
            </a:pPr>
            <a:r>
              <a:rPr sz="1600">
                <a:solidFill>
                  <a:schemeClr val="tx1">
                    <a:lumMod val="75000"/>
                    <a:lumOff val="25000"/>
                  </a:schemeClr>
                </a:solidFill>
                <a:latin typeface="+mj-ea"/>
                <a:ea typeface="+mj-ea"/>
                <a:cs typeface="+mj-ea"/>
              </a:rPr>
              <a:t>我长期参与并持续负责</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智能问答</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智能写作</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知识图谱</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三个核心业务项目，作为前端管理者和架构负责人深度参与项目建设，不仅承担前端开发职责，还从零开始参与技术选型、功能设计、代码规范设计、实现方案制定，以及开发任务拆分、工作分配和代码</a:t>
            </a:r>
            <a:r>
              <a:rPr sz="1600">
                <a:solidFill>
                  <a:schemeClr val="tx1">
                    <a:lumMod val="75000"/>
                    <a:lumOff val="25000"/>
                  </a:schemeClr>
                </a:solidFill>
                <a:latin typeface="+mj-ea"/>
                <a:ea typeface="+mj-ea"/>
                <a:cs typeface="+mj-ea"/>
              </a:rPr>
              <a:t> review </a:t>
            </a:r>
            <a:r>
              <a:rPr sz="1600">
                <a:solidFill>
                  <a:schemeClr val="tx1">
                    <a:lumMod val="75000"/>
                    <a:lumOff val="25000"/>
                  </a:schemeClr>
                </a:solidFill>
                <a:latin typeface="+mj-ea"/>
                <a:ea typeface="+mj-ea"/>
                <a:cs typeface="+mj-ea"/>
              </a:rPr>
              <a:t>等关键环节。我在实际推进过程中不仅需要保障功能开发本身，更需要围绕前端整体建设承担关键责任，包括结合业务目标进行功能与实现方案设计，建立代码规范和前端实现规范，确保项目具备可维护性和一致性，对功能模块进行合理划分和任务拆解，安排开发任务并推进执行，同时通过代码</a:t>
            </a:r>
            <a:r>
              <a:rPr sz="1600">
                <a:solidFill>
                  <a:schemeClr val="tx1">
                    <a:lumMod val="75000"/>
                    <a:lumOff val="25000"/>
                  </a:schemeClr>
                </a:solidFill>
                <a:latin typeface="+mj-ea"/>
                <a:ea typeface="+mj-ea"/>
                <a:cs typeface="+mj-ea"/>
              </a:rPr>
              <a:t> review </a:t>
            </a:r>
            <a:r>
              <a:rPr sz="1600">
                <a:solidFill>
                  <a:schemeClr val="tx1">
                    <a:lumMod val="75000"/>
                    <a:lumOff val="25000"/>
                  </a:schemeClr>
                </a:solidFill>
                <a:latin typeface="+mj-ea"/>
                <a:ea typeface="+mj-ea"/>
                <a:cs typeface="+mj-ea"/>
              </a:rPr>
              <a:t>保障交付质量，并在持续迭代过程中统一前端架构方向，减少重复建设和实现偏差。面对业务持续演进、需求变化频繁、项目间既有独立性又存在能力复用和架构统一诉求，以及不同业务形态对前端交互、渲染和组件抽象能力要求较高等难点，我从前端架构层面对三个项目进行统一性思考，避免重复建设，根据业务需求对功能模块进行合理分层和拆分，保障系统可扩展性，制定并落实代码规范、实现规范及</a:t>
            </a:r>
            <a:r>
              <a:rPr sz="1600">
                <a:solidFill>
                  <a:schemeClr val="tx1">
                    <a:lumMod val="75000"/>
                    <a:lumOff val="25000"/>
                  </a:schemeClr>
                </a:solidFill>
                <a:latin typeface="+mj-ea"/>
                <a:ea typeface="+mj-ea"/>
                <a:cs typeface="+mj-ea"/>
              </a:rPr>
              <a:t> review </a:t>
            </a:r>
            <a:r>
              <a:rPr sz="1600">
                <a:solidFill>
                  <a:schemeClr val="tx1">
                    <a:lumMod val="75000"/>
                    <a:lumOff val="25000"/>
                  </a:schemeClr>
                </a:solidFill>
                <a:latin typeface="+mj-ea"/>
                <a:ea typeface="+mj-ea"/>
                <a:cs typeface="+mj-ea"/>
              </a:rPr>
              <a:t>机制，将复杂业务需求拆解为可执行的开发任务，提升团队执行效率，并在核心模块和复杂交互场景中承担方案把控和技术指导责任，在项目长期演进过程中持续维护架构一致性和前端交付质量。通过持续承担这三个核心项目的前端管理和架构职责，我不仅保障了业务功能的持续交付，也推动了项目从</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单次需求开发</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向</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可持续演进的体系化建设</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转变，使团队在面对复杂业务时能够更稳定地推进前端交付，并在规范、架构和协作方式上逐步形成统一标准。</a:t>
            </a:r>
          </a:p>
        </p:txBody>
      </p:sp>
    </p:spTree>
    <p:extLst>
      <p:ext uri="{BB962C8B-B14F-4D97-AF65-F5344CB8AC3E}">
        <p14:creationId xmlns:p14="http://schemas.microsoft.com/office/powerpoint/2010/main" val="753191521"/>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A8605F4B-0DBF-479A-9D17-84FECCE99F09}"/>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a:latin typeface="微软雅黑"/>
                <a:ea typeface="微软雅黑"/>
                <a:cs typeface="微软雅黑"/>
              </a:rPr>
              <a:t>2.</a:t>
            </a:r>
            <a:r>
              <a:rPr>
                <a:latin typeface="微软雅黑"/>
                <a:ea typeface="微软雅黑"/>
                <a:cs typeface="微软雅黑"/>
              </a:rPr>
              <a:t>能力模型个人举证</a:t>
            </a:r>
          </a:p>
        </p:txBody>
      </p:sp>
      <p:pic>
        <p:nvPicPr>
          <p:cNvPr id="3" name="图片 3"/>
          <p:cNvPicPr>
            <a:picLocks xmlns:a="http://schemas.openxmlformats.org/drawingml/2006/main" noChangeAspect="1"/>
          </p:cNvPicPr>
          <p:nvPr/>
        </p:nvPicPr>
        <p:blipFill>
          <a:blip xmlns:r="http://schemas.openxmlformats.org/officeDocument/2006/relationships" xmlns:a="http://schemas.openxmlformats.org/drawingml/2006/main" r:embed="R60daca2b0c6c47bc"/>
          <a:stretch xmlns:a="http://schemas.openxmlformats.org/drawingml/2006/main">
            <a:fillRect l="0" t="0" r="0" b="0"/>
          </a:stretch>
        </p:blipFill>
        <p:spPr>
          <a:xfrm xmlns:a="http://schemas.openxmlformats.org/drawingml/2006/main">
            <a:off x="635000" y="1858645"/>
            <a:ext cx="3377565" cy="1788160"/>
          </a:xfrm>
          <a:prstGeom xmlns:a="http://schemas.openxmlformats.org/drawingml/2006/main" prst="rect">
            <a:avLst/>
          </a:prstGeom>
        </p:spPr>
      </p:pic>
      <p:pic>
        <p:nvPicPr>
          <p:cNvPr id="4" name="图片 4"/>
          <p:cNvPicPr>
            <a:picLocks xmlns:a="http://schemas.openxmlformats.org/drawingml/2006/main" noChangeAspect="1"/>
          </p:cNvPicPr>
          <p:nvPr/>
        </p:nvPicPr>
        <p:blipFill>
          <a:blip xmlns:r="http://schemas.openxmlformats.org/officeDocument/2006/relationships" xmlns:a="http://schemas.openxmlformats.org/drawingml/2006/main" r:embed="R77ecac279ab54976"/>
          <a:stretch xmlns:a="http://schemas.openxmlformats.org/drawingml/2006/main">
            <a:fillRect l="0" t="0" r="0" b="0"/>
          </a:stretch>
        </p:blipFill>
        <p:spPr>
          <a:xfrm xmlns:a="http://schemas.openxmlformats.org/drawingml/2006/main">
            <a:off x="4436110" y="1858645"/>
            <a:ext cx="3377565" cy="1779270"/>
          </a:xfrm>
          <a:prstGeom xmlns:a="http://schemas.openxmlformats.org/drawingml/2006/main" prst="rect">
            <a:avLst/>
          </a:prstGeom>
        </p:spPr>
      </p:pic>
      <p:pic>
        <p:nvPicPr>
          <p:cNvPr id="5" name="图片 6"/>
          <p:cNvPicPr>
            <a:picLocks xmlns:a="http://schemas.openxmlformats.org/drawingml/2006/main" noChangeAspect="1"/>
          </p:cNvPicPr>
          <p:nvPr/>
        </p:nvPicPr>
        <p:blipFill>
          <a:blip xmlns:r="http://schemas.openxmlformats.org/officeDocument/2006/relationships" xmlns:a="http://schemas.openxmlformats.org/drawingml/2006/main" r:embed="R0f82b5f78bac41ee"/>
          <a:stretch xmlns:a="http://schemas.openxmlformats.org/drawingml/2006/main">
            <a:fillRect l="0" t="0" r="0" b="0"/>
          </a:stretch>
        </p:blipFill>
        <p:spPr>
          <a:xfrm xmlns:a="http://schemas.openxmlformats.org/drawingml/2006/main">
            <a:off x="8237220" y="1877060"/>
            <a:ext cx="3378835" cy="1760855"/>
          </a:xfrm>
          <a:prstGeom xmlns:a="http://schemas.openxmlformats.org/drawingml/2006/main" prst="rect">
            <a:avLst/>
          </a:prstGeom>
        </p:spPr>
      </p:pic>
      <p:sp>
        <p:nvSpPr>
          <p:cNvPr id="8" name="文本框 7">
            <a:extLst xmlns:a="http://schemas.openxmlformats.org/drawingml/2006/main">
              <a:ext uri="{FF2B5EF4-FFF2-40B4-BE49-F238E27FC236}">
                <a16:creationId xmlns:a16="http://schemas.microsoft.com/office/drawing/2014/main" id="{22278039-B6BE-46F2-A4F5-213117784965}"/>
              </a:ext>
            </a:extLst>
          </p:cNvPr>
          <p:cNvSpPr>
            <a:spLocks xmlns:a="http://schemas.openxmlformats.org/drawingml/2006/main" noGrp="1"/>
          </p:cNvSpPr>
          <p:nvPr/>
        </p:nvSpPr>
        <p:spPr>
          <a:xfrm xmlns:a="http://schemas.openxmlformats.org/drawingml/2006/main">
            <a:off x="1301750" y="4342765"/>
            <a:ext cx="2044065"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a:solidFill>
                  <a:schemeClr val="accent1"/>
                </a:solidFill>
              </a:rPr>
              <a:t>知识图谱平台</a:t>
            </a:r>
          </a:p>
        </p:txBody>
      </p:sp>
      <p:sp>
        <p:nvSpPr>
          <p:cNvPr id="9" name="文本框 8">
            <a:extLst xmlns:a="http://schemas.openxmlformats.org/drawingml/2006/main">
              <a:ext uri="{FF2B5EF4-FFF2-40B4-BE49-F238E27FC236}">
                <a16:creationId xmlns:a16="http://schemas.microsoft.com/office/drawing/2014/main" id="{95D38B32-3358-4116-BBDE-48C10FD5DC03}"/>
              </a:ext>
            </a:extLst>
          </p:cNvPr>
          <p:cNvSpPr>
            <a:spLocks xmlns:a="http://schemas.openxmlformats.org/drawingml/2006/main" noGrp="1"/>
          </p:cNvSpPr>
          <p:nvPr/>
        </p:nvSpPr>
        <p:spPr>
          <a:xfrm xmlns:a="http://schemas.openxmlformats.org/drawingml/2006/main">
            <a:off x="5707380" y="4324350"/>
            <a:ext cx="1468120"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a:solidFill>
                  <a:schemeClr val="accent1"/>
                </a:solidFill>
              </a:rPr>
              <a:t>智能问答</a:t>
            </a:r>
          </a:p>
        </p:txBody>
      </p:sp>
      <p:sp>
        <p:nvSpPr>
          <p:cNvPr id="11" name="文本框 10">
            <a:extLst xmlns:a="http://schemas.openxmlformats.org/drawingml/2006/main">
              <a:ext uri="{FF2B5EF4-FFF2-40B4-BE49-F238E27FC236}">
                <a16:creationId xmlns:a16="http://schemas.microsoft.com/office/drawing/2014/main" id="{A666B62E-7A18-4EBF-B697-0459F0A7CD19}"/>
              </a:ext>
            </a:extLst>
          </p:cNvPr>
          <p:cNvSpPr>
            <a:spLocks xmlns:a="http://schemas.openxmlformats.org/drawingml/2006/main" noGrp="1"/>
          </p:cNvSpPr>
          <p:nvPr/>
        </p:nvSpPr>
        <p:spPr>
          <a:xfrm xmlns:a="http://schemas.openxmlformats.org/drawingml/2006/main">
            <a:off x="9198610" y="4328160"/>
            <a:ext cx="1468120"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a:solidFill>
                  <a:schemeClr val="accent1"/>
                </a:solidFill>
              </a:rPr>
              <a:t>智能写作</a:t>
            </a:r>
          </a:p>
        </p:txBody>
      </p:sp>
      <p:sp>
        <p:nvSpPr>
          <p:cNvPr id="15" name="文本框 14">
            <a:extLst xmlns:a="http://schemas.openxmlformats.org/drawingml/2006/main">
              <a:ext uri="{FF2B5EF4-FFF2-40B4-BE49-F238E27FC236}">
                <a16:creationId xmlns:a16="http://schemas.microsoft.com/office/drawing/2014/main" id="{31BC847C-B901-4864-A4B1-DAFD6888220E}"/>
              </a:ext>
            </a:extLst>
          </p:cNvPr>
          <p:cNvSpPr>
            <a:spLocks xmlns:a="http://schemas.openxmlformats.org/drawingml/2006/main" noGrp="1"/>
          </p:cNvSpPr>
          <p:nvPr/>
        </p:nvSpPr>
        <p:spPr>
          <a:xfrm xmlns:a="http://schemas.openxmlformats.org/drawingml/2006/main">
            <a:off x="789305" y="4942840"/>
            <a:ext cx="3068320" cy="52197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400">
                <a:latin typeface="+mj-ea"/>
                <a:ea typeface="+mj-ea"/>
                <a:cs typeface="+mj-ea"/>
              </a:rPr>
              <a:t>基于</a:t>
            </a:r>
            <a:r>
              <a:rPr sz="1400">
                <a:latin typeface="+mj-ea"/>
                <a:ea typeface="+mj-ea"/>
                <a:cs typeface="+mj-ea"/>
              </a:rPr>
              <a:t>Ant V</a:t>
            </a:r>
            <a:r>
              <a:rPr sz="1400">
                <a:latin typeface="+mj-ea"/>
                <a:ea typeface="+mj-ea"/>
                <a:cs typeface="+mj-ea"/>
              </a:rPr>
              <a:t>开发支持知识图谱</a:t>
            </a:r>
            <a:r>
              <a:rPr sz="1400">
                <a:latin typeface="+mj-ea"/>
                <a:ea typeface="+mj-ea"/>
                <a:cs typeface="+mj-ea"/>
              </a:rPr>
              <a:t>Schema</a:t>
            </a:r>
            <a:r>
              <a:rPr sz="1400">
                <a:latin typeface="+mj-ea"/>
                <a:ea typeface="+mj-ea"/>
                <a:cs typeface="+mj-ea"/>
              </a:rPr>
              <a:t>构建和节点查询</a:t>
            </a:r>
            <a:r>
              <a:rPr sz="1400">
                <a:latin typeface="+mj-ea"/>
                <a:ea typeface="+mj-ea"/>
                <a:cs typeface="+mj-ea"/>
              </a:rPr>
              <a:t>，</a:t>
            </a:r>
            <a:r>
              <a:rPr sz="1400">
                <a:latin typeface="+mj-ea"/>
                <a:ea typeface="+mj-ea"/>
                <a:cs typeface="+mj-ea"/>
              </a:rPr>
              <a:t>数据分析</a:t>
            </a:r>
          </a:p>
        </p:txBody>
      </p:sp>
      <p:sp>
        <p:nvSpPr>
          <p:cNvPr id="16" name="文本框 15">
            <a:extLst xmlns:a="http://schemas.openxmlformats.org/drawingml/2006/main">
              <a:ext uri="{FF2B5EF4-FFF2-40B4-BE49-F238E27FC236}">
                <a16:creationId xmlns:a16="http://schemas.microsoft.com/office/drawing/2014/main" id="{993930D7-A3EF-4923-AC10-A94BA77569AA}"/>
              </a:ext>
            </a:extLst>
          </p:cNvPr>
          <p:cNvSpPr>
            <a:spLocks xmlns:a="http://schemas.openxmlformats.org/drawingml/2006/main" noGrp="1"/>
          </p:cNvSpPr>
          <p:nvPr/>
        </p:nvSpPr>
        <p:spPr>
          <a:xfrm xmlns:a="http://schemas.openxmlformats.org/drawingml/2006/main">
            <a:off x="4838700" y="4942840"/>
            <a:ext cx="3068320" cy="73723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400">
                <a:latin typeface="+mj-ea"/>
                <a:ea typeface="+mj-ea"/>
                <a:cs typeface="+mj-ea"/>
              </a:rPr>
              <a:t>基于</a:t>
            </a:r>
            <a:r>
              <a:rPr sz="1400">
                <a:latin typeface="+mj-ea"/>
                <a:ea typeface="+mj-ea"/>
                <a:cs typeface="+mj-ea"/>
              </a:rPr>
              <a:t>Slate</a:t>
            </a:r>
            <a:r>
              <a:rPr sz="1400">
                <a:latin typeface="+mj-ea"/>
                <a:ea typeface="+mj-ea"/>
                <a:cs typeface="+mj-ea"/>
              </a:rPr>
              <a:t>开发的</a:t>
            </a:r>
            <a:r>
              <a:rPr sz="1400">
                <a:latin typeface="+mj-ea"/>
                <a:ea typeface="+mj-ea"/>
                <a:cs typeface="+mj-ea"/>
              </a:rPr>
              <a:t>AI</a:t>
            </a:r>
            <a:r>
              <a:rPr sz="1400">
                <a:latin typeface="+mj-ea"/>
                <a:ea typeface="+mj-ea"/>
                <a:cs typeface="+mj-ea"/>
              </a:rPr>
              <a:t>智能问答系统</a:t>
            </a:r>
            <a:r>
              <a:rPr sz="1400">
                <a:latin typeface="+mj-ea"/>
                <a:ea typeface="+mj-ea"/>
                <a:cs typeface="+mj-ea"/>
              </a:rPr>
              <a:t>，</a:t>
            </a:r>
            <a:r>
              <a:rPr sz="1400">
                <a:latin typeface="+mj-ea"/>
                <a:ea typeface="+mj-ea"/>
                <a:cs typeface="+mj-ea"/>
              </a:rPr>
              <a:t>支持</a:t>
            </a:r>
            <a:r>
              <a:rPr sz="1400">
                <a:latin typeface="+mj-ea"/>
                <a:ea typeface="+mj-ea"/>
                <a:cs typeface="+mj-ea"/>
              </a:rPr>
              <a:t>RAG，</a:t>
            </a:r>
            <a:r>
              <a:rPr sz="1400">
                <a:latin typeface="+mj-ea"/>
                <a:ea typeface="+mj-ea"/>
                <a:cs typeface="+mj-ea"/>
              </a:rPr>
              <a:t>自定义</a:t>
            </a:r>
            <a:r>
              <a:rPr sz="1400">
                <a:latin typeface="+mj-ea"/>
                <a:ea typeface="+mj-ea"/>
                <a:cs typeface="+mj-ea"/>
              </a:rPr>
              <a:t>Agent</a:t>
            </a:r>
            <a:r>
              <a:rPr sz="1400">
                <a:latin typeface="+mj-ea"/>
                <a:ea typeface="+mj-ea"/>
                <a:cs typeface="+mj-ea"/>
              </a:rPr>
              <a:t>助手配置</a:t>
            </a:r>
            <a:r>
              <a:rPr sz="1400">
                <a:latin typeface="+mj-ea"/>
                <a:ea typeface="+mj-ea"/>
                <a:cs typeface="+mj-ea"/>
              </a:rPr>
              <a:t>，</a:t>
            </a:r>
            <a:r>
              <a:rPr sz="1400">
                <a:latin typeface="+mj-ea"/>
                <a:ea typeface="+mj-ea"/>
                <a:cs typeface="+mj-ea"/>
              </a:rPr>
              <a:t>数据库接入</a:t>
            </a:r>
            <a:r>
              <a:rPr sz="1400">
                <a:latin typeface="+mj-ea"/>
                <a:ea typeface="+mj-ea"/>
                <a:cs typeface="+mj-ea"/>
              </a:rPr>
              <a:t>，</a:t>
            </a:r>
            <a:r>
              <a:rPr sz="1400">
                <a:latin typeface="+mj-ea"/>
                <a:ea typeface="+mj-ea"/>
                <a:cs typeface="+mj-ea"/>
              </a:rPr>
              <a:t>敏感词</a:t>
            </a:r>
            <a:r>
              <a:rPr sz="1400">
                <a:latin typeface="+mj-ea"/>
                <a:ea typeface="+mj-ea"/>
                <a:cs typeface="+mj-ea"/>
              </a:rPr>
              <a:t>配置</a:t>
            </a:r>
          </a:p>
        </p:txBody>
      </p:sp>
      <p:sp>
        <p:nvSpPr>
          <p:cNvPr id="17" name="文本框 16">
            <a:extLst xmlns:a="http://schemas.openxmlformats.org/drawingml/2006/main">
              <a:ext uri="{FF2B5EF4-FFF2-40B4-BE49-F238E27FC236}">
                <a16:creationId xmlns:a16="http://schemas.microsoft.com/office/drawing/2014/main" id="{DFAED8AA-FE8B-4522-8B87-A08C6C4CA224}"/>
              </a:ext>
            </a:extLst>
          </p:cNvPr>
          <p:cNvSpPr>
            <a:spLocks xmlns:a="http://schemas.openxmlformats.org/drawingml/2006/main" noGrp="1"/>
          </p:cNvSpPr>
          <p:nvPr/>
        </p:nvSpPr>
        <p:spPr>
          <a:xfrm xmlns:a="http://schemas.openxmlformats.org/drawingml/2006/main">
            <a:off x="8398510" y="4942840"/>
            <a:ext cx="3068320" cy="73723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400">
                <a:latin typeface="+mj-ea"/>
                <a:ea typeface="+mj-ea"/>
                <a:cs typeface="+mj-ea"/>
              </a:rPr>
              <a:t>基于</a:t>
            </a:r>
            <a:r>
              <a:rPr sz="1400">
                <a:latin typeface="+mj-ea"/>
                <a:ea typeface="+mj-ea"/>
                <a:cs typeface="+mj-ea"/>
              </a:rPr>
              <a:t>Slate</a:t>
            </a:r>
            <a:r>
              <a:rPr sz="1400">
                <a:latin typeface="+mj-ea"/>
                <a:ea typeface="+mj-ea"/>
                <a:cs typeface="+mj-ea"/>
              </a:rPr>
              <a:t>开发的</a:t>
            </a:r>
            <a:r>
              <a:rPr sz="1400">
                <a:latin typeface="+mj-ea"/>
                <a:ea typeface="+mj-ea"/>
                <a:cs typeface="+mj-ea"/>
              </a:rPr>
              <a:t>AI</a:t>
            </a:r>
            <a:r>
              <a:rPr sz="1400">
                <a:latin typeface="+mj-ea"/>
                <a:ea typeface="+mj-ea"/>
                <a:cs typeface="+mj-ea"/>
              </a:rPr>
              <a:t>智能写作系统</a:t>
            </a:r>
            <a:r>
              <a:rPr sz="1400">
                <a:latin typeface="+mj-ea"/>
                <a:ea typeface="+mj-ea"/>
                <a:cs typeface="+mj-ea"/>
              </a:rPr>
              <a:t>，</a:t>
            </a:r>
            <a:r>
              <a:rPr sz="1400">
                <a:latin typeface="+mj-ea"/>
                <a:ea typeface="+mj-ea"/>
                <a:cs typeface="+mj-ea"/>
              </a:rPr>
              <a:t>支持各种自定义格式的写作风格和格式</a:t>
            </a:r>
            <a:r>
              <a:rPr sz="1400">
                <a:latin typeface="+mj-ea"/>
                <a:ea typeface="+mj-ea"/>
                <a:cs typeface="+mj-ea"/>
              </a:rPr>
              <a:t>输出</a:t>
            </a:r>
          </a:p>
        </p:txBody>
      </p:sp>
    </p:spTree>
    <p:extLst>
      <p:ext uri="{BB962C8B-B14F-4D97-AF65-F5344CB8AC3E}">
        <p14:creationId xmlns:p14="http://schemas.microsoft.com/office/powerpoint/2010/main" val="1522833872"/>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C95C7880-DF8D-484D-836F-9819616942E2}"/>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a:latin typeface="微软雅黑"/>
                <a:ea typeface="微软雅黑"/>
                <a:cs typeface="微软雅黑"/>
              </a:rPr>
              <a:t>2.</a:t>
            </a:r>
            <a:r>
              <a:rPr>
                <a:latin typeface="微软雅黑"/>
                <a:ea typeface="微软雅黑"/>
                <a:cs typeface="微软雅黑"/>
              </a:rPr>
              <a:t>能力模型个人举证</a:t>
            </a:r>
          </a:p>
        </p:txBody>
      </p:sp>
      <p:sp>
        <p:nvSpPr>
          <p:cNvPr id="6" name="文本框 5">
            <a:extLst xmlns:a="http://schemas.openxmlformats.org/drawingml/2006/main">
              <a:ext uri="{FF2B5EF4-FFF2-40B4-BE49-F238E27FC236}">
                <a16:creationId xmlns:a16="http://schemas.microsoft.com/office/drawing/2014/main" id="{6109E233-0B39-4BB3-AA7E-6201F5F1263D}"/>
              </a:ext>
            </a:extLst>
          </p:cNvPr>
          <p:cNvSpPr>
            <a:spLocks xmlns:a="http://schemas.openxmlformats.org/drawingml/2006/main" noGrp="1"/>
          </p:cNvSpPr>
          <p:nvPr/>
        </p:nvSpPr>
        <p:spPr>
          <a:xfrm xmlns:a="http://schemas.openxmlformats.org/drawingml/2006/main">
            <a:off x="569595" y="1240790"/>
            <a:ext cx="6937375" cy="3987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000">
                <a:solidFill>
                  <a:schemeClr val="accent1"/>
                </a:solidFill>
                <a:latin typeface="+mj-ea"/>
                <a:ea typeface="+mj-ea"/>
                <a:cs typeface="+mj-ea"/>
              </a:rPr>
              <a:t>2. </a:t>
            </a:r>
            <a:r>
              <a:rPr sz="2000">
                <a:solidFill>
                  <a:schemeClr val="accent1"/>
                </a:solidFill>
                <a:latin typeface="+mj-ea"/>
                <a:ea typeface="+mj-ea"/>
                <a:cs typeface="+mj-ea"/>
              </a:rPr>
              <a:t>内部效能提升和管理项目</a:t>
            </a:r>
          </a:p>
        </p:txBody>
      </p:sp>
      <p:sp>
        <p:nvSpPr>
          <p:cNvPr id="10" name="文本框 9">
            <a:extLst xmlns:a="http://schemas.openxmlformats.org/drawingml/2006/main">
              <a:ext uri="{FF2B5EF4-FFF2-40B4-BE49-F238E27FC236}">
                <a16:creationId xmlns:a16="http://schemas.microsoft.com/office/drawing/2014/main" id="{21711AC1-25BC-4329-BCA5-998F0F2EE60F}"/>
              </a:ext>
            </a:extLst>
          </p:cNvPr>
          <p:cNvSpPr>
            <a:spLocks xmlns:a="http://schemas.openxmlformats.org/drawingml/2006/main" noGrp="1"/>
          </p:cNvSpPr>
          <p:nvPr/>
        </p:nvSpPr>
        <p:spPr>
          <a:xfrm xmlns:a="http://schemas.openxmlformats.org/drawingml/2006/main">
            <a:off x="569595" y="1781810"/>
            <a:ext cx="10770235" cy="392557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ct val="120000"/>
              </a:lnSpc>
              <a:buNone/>
            </a:pPr>
            <a:r>
              <a:rPr sz="1600">
                <a:solidFill>
                  <a:schemeClr val="tx1">
                    <a:lumMod val="75000"/>
                    <a:lumOff val="25000"/>
                  </a:schemeClr>
                </a:solidFill>
                <a:latin typeface="+mj-ea"/>
                <a:ea typeface="+mj-ea"/>
                <a:cs typeface="+mj-ea"/>
              </a:rPr>
              <a:t>随着业务项目逐渐增多，团队在研发过程中面临一些共性问题，例如：</a:t>
            </a:r>
          </a:p>
          <a:p xmlns:a="http://schemas.openxmlformats.org/drawingml/2006/main">
            <a:pPr>
              <a:lnSpc>
                <a:spcPct val="120000"/>
              </a:lnSpc>
              <a:buNone/>
            </a:pPr>
          </a:p>
          <a:p xmlns:a="http://schemas.openxmlformats.org/drawingml/2006/main">
            <a:pPr>
              <a:lnSpc>
                <a:spcPct val="120000"/>
              </a:lnSpc>
              <a:buNone/>
            </a:pPr>
            <a:r>
              <a:rPr sz="1600">
                <a:solidFill>
                  <a:schemeClr val="tx1">
                    <a:lumMod val="75000"/>
                    <a:lumOff val="25000"/>
                  </a:schemeClr>
                </a:solidFill>
                <a:latin typeface="+mj-ea"/>
                <a:ea typeface="+mj-ea"/>
                <a:cs typeface="+mj-ea"/>
              </a:rPr>
              <a:t>组件能力分散，跨项目复用不足</a:t>
            </a:r>
          </a:p>
          <a:p xmlns:a="http://schemas.openxmlformats.org/drawingml/2006/main">
            <a:pPr>
              <a:lnSpc>
                <a:spcPct val="120000"/>
              </a:lnSpc>
              <a:buNone/>
            </a:pPr>
            <a:r>
              <a:rPr sz="1600">
                <a:solidFill>
                  <a:schemeClr val="tx1">
                    <a:lumMod val="75000"/>
                    <a:lumOff val="25000"/>
                  </a:schemeClr>
                </a:solidFill>
                <a:latin typeface="+mj-ea"/>
                <a:ea typeface="+mj-ea"/>
                <a:cs typeface="+mj-ea"/>
              </a:rPr>
              <a:t>项目文档维护成本高，团队成员理解组件和接口成本大</a:t>
            </a:r>
          </a:p>
          <a:p xmlns:a="http://schemas.openxmlformats.org/drawingml/2006/main">
            <a:pPr>
              <a:lnSpc>
                <a:spcPct val="120000"/>
              </a:lnSpc>
              <a:buNone/>
            </a:pPr>
            <a:r>
              <a:rPr sz="1600">
                <a:solidFill>
                  <a:schemeClr val="tx1">
                    <a:lumMod val="75000"/>
                    <a:lumOff val="25000"/>
                  </a:schemeClr>
                </a:solidFill>
                <a:latin typeface="+mj-ea"/>
                <a:ea typeface="+mj-ea"/>
                <a:cs typeface="+mj-ea"/>
              </a:rPr>
              <a:t>前端、后端、算法多个端的版本对应关系缺乏统一追溯机制</a:t>
            </a:r>
          </a:p>
          <a:p xmlns:a="http://schemas.openxmlformats.org/drawingml/2006/main">
            <a:pPr>
              <a:lnSpc>
                <a:spcPct val="120000"/>
              </a:lnSpc>
              <a:buNone/>
            </a:pPr>
            <a:r>
              <a:rPr sz="1600">
                <a:solidFill>
                  <a:schemeClr val="tx1">
                    <a:lumMod val="75000"/>
                    <a:lumOff val="25000"/>
                  </a:schemeClr>
                </a:solidFill>
                <a:latin typeface="+mj-ea"/>
                <a:ea typeface="+mj-ea"/>
                <a:cs typeface="+mj-ea"/>
              </a:rPr>
              <a:t>团队在持续交付中需要更高程度的规范化和工具化支撑</a:t>
            </a:r>
          </a:p>
          <a:p xmlns:a="http://schemas.openxmlformats.org/drawingml/2006/main">
            <a:pPr>
              <a:lnSpc>
                <a:spcPct val="120000"/>
              </a:lnSpc>
              <a:buNone/>
            </a:pPr>
            <a:r>
              <a:rPr sz="1600">
                <a:solidFill>
                  <a:schemeClr val="tx1">
                    <a:lumMod val="75000"/>
                    <a:lumOff val="25000"/>
                  </a:schemeClr>
                </a:solidFill>
                <a:latin typeface="+mj-ea"/>
                <a:ea typeface="+mj-ea"/>
                <a:cs typeface="+mj-ea"/>
              </a:rPr>
              <a:t>基于这些问题，我主动推动并参与了多项内部能力建设，希望通过模块化、工具化</a:t>
            </a:r>
            <a:r>
              <a:rPr sz="1600">
                <a:solidFill>
                  <a:schemeClr val="tx1">
                    <a:lumMod val="75000"/>
                    <a:lumOff val="25000"/>
                  </a:schemeClr>
                </a:solidFill>
                <a:latin typeface="+mj-ea"/>
                <a:ea typeface="+mj-ea"/>
                <a:cs typeface="+mj-ea"/>
              </a:rPr>
              <a:t>、自动化</a:t>
            </a:r>
            <a:r>
              <a:rPr sz="1600">
                <a:solidFill>
                  <a:schemeClr val="tx1">
                    <a:lumMod val="75000"/>
                    <a:lumOff val="25000"/>
                  </a:schemeClr>
                </a:solidFill>
                <a:latin typeface="+mj-ea"/>
                <a:ea typeface="+mj-ea"/>
                <a:cs typeface="+mj-ea"/>
              </a:rPr>
              <a:t>和标准化方式提升团队整体效率</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由此产生了内部使用的多个项目和脚本工程的推进包括</a:t>
            </a:r>
            <a:r>
              <a:rPr sz="1600">
                <a:solidFill>
                  <a:schemeClr val="tx1">
                    <a:lumMod val="75000"/>
                    <a:lumOff val="25000"/>
                  </a:schemeClr>
                </a:solidFill>
                <a:latin typeface="+mj-ea"/>
                <a:ea typeface="+mj-ea"/>
                <a:cs typeface="+mj-ea"/>
              </a:rPr>
              <a:t>：</a:t>
            </a:r>
          </a:p>
          <a:p xmlns:a="http://schemas.openxmlformats.org/drawingml/2006/main">
            <a:pPr>
              <a:lnSpc>
                <a:spcPct val="120000"/>
              </a:lnSpc>
              <a:buNone/>
            </a:pPr>
          </a:p>
          <a:p xmlns:a="http://schemas.openxmlformats.org/drawingml/2006/main">
            <a:pPr>
              <a:lnSpc>
                <a:spcPct val="120000"/>
              </a:lnSpc>
              <a:buNone/>
            </a:pPr>
            <a:r>
              <a:rPr sz="1600">
                <a:solidFill>
                  <a:schemeClr val="tx1">
                    <a:lumMod val="75000"/>
                    <a:lumOff val="25000"/>
                  </a:schemeClr>
                </a:solidFill>
                <a:latin typeface="+mj-ea"/>
                <a:ea typeface="+mj-ea"/>
                <a:cs typeface="+mj-ea"/>
              </a:rPr>
              <a:t>- </a:t>
            </a:r>
            <a:r>
              <a:rPr sz="1600">
                <a:solidFill>
                  <a:schemeClr val="tx1">
                    <a:lumMod val="75000"/>
                    <a:lumOff val="25000"/>
                  </a:schemeClr>
                </a:solidFill>
                <a:latin typeface="+mj-ea"/>
                <a:ea typeface="+mj-ea"/>
                <a:cs typeface="+mj-ea"/>
              </a:rPr>
              <a:t>业务基础组件</a:t>
            </a:r>
            <a:r>
              <a:rPr sz="1600">
                <a:solidFill>
                  <a:schemeClr val="tx1">
                    <a:lumMod val="75000"/>
                    <a:lumOff val="25000"/>
                  </a:schemeClr>
                </a:solidFill>
                <a:latin typeface="+mj-ea"/>
                <a:ea typeface="+mj-ea"/>
                <a:cs typeface="+mj-ea"/>
              </a:rPr>
              <a:t>、功能组件</a:t>
            </a:r>
            <a:r>
              <a:rPr sz="1600">
                <a:solidFill>
                  <a:schemeClr val="tx1">
                    <a:lumMod val="75000"/>
                    <a:lumOff val="25000"/>
                  </a:schemeClr>
                </a:solidFill>
                <a:latin typeface="+mj-ea"/>
                <a:ea typeface="+mj-ea"/>
                <a:cs typeface="+mj-ea"/>
              </a:rPr>
              <a:t>模块化仓库</a:t>
            </a:r>
          </a:p>
          <a:p xmlns:a="http://schemas.openxmlformats.org/drawingml/2006/main">
            <a:pPr>
              <a:lnSpc>
                <a:spcPct val="120000"/>
              </a:lnSpc>
              <a:buNone/>
            </a:pPr>
            <a:r>
              <a:rPr sz="1600">
                <a:solidFill>
                  <a:schemeClr val="tx1">
                    <a:lumMod val="75000"/>
                    <a:lumOff val="25000"/>
                  </a:schemeClr>
                </a:solidFill>
                <a:latin typeface="+mj-ea"/>
                <a:ea typeface="+mj-ea"/>
                <a:cs typeface="+mj-ea"/>
              </a:rPr>
              <a:t>- </a:t>
            </a:r>
            <a:r>
              <a:rPr sz="1600">
                <a:solidFill>
                  <a:schemeClr val="tx1">
                    <a:lumMod val="75000"/>
                    <a:lumOff val="25000"/>
                  </a:schemeClr>
                </a:solidFill>
                <a:latin typeface="+mj-ea"/>
                <a:ea typeface="+mj-ea"/>
                <a:cs typeface="+mj-ea"/>
              </a:rPr>
              <a:t>基于</a:t>
            </a:r>
            <a:r>
              <a:rPr sz="1600">
                <a:solidFill>
                  <a:schemeClr val="tx1">
                    <a:lumMod val="75000"/>
                    <a:lumOff val="25000"/>
                  </a:schemeClr>
                </a:solidFill>
                <a:latin typeface="+mj-ea"/>
                <a:ea typeface="+mj-ea"/>
                <a:cs typeface="+mj-ea"/>
              </a:rPr>
              <a:t>AI</a:t>
            </a:r>
            <a:r>
              <a:rPr sz="1600">
                <a:solidFill>
                  <a:schemeClr val="tx1">
                    <a:lumMod val="75000"/>
                    <a:lumOff val="25000"/>
                  </a:schemeClr>
                </a:solidFill>
                <a:latin typeface="+mj-ea"/>
                <a:ea typeface="+mj-ea"/>
                <a:cs typeface="+mj-ea"/>
              </a:rPr>
              <a:t>生成</a:t>
            </a:r>
            <a:r>
              <a:rPr sz="1600">
                <a:solidFill>
                  <a:schemeClr val="tx1">
                    <a:lumMod val="75000"/>
                    <a:lumOff val="25000"/>
                  </a:schemeClr>
                </a:solidFill>
                <a:latin typeface="+mj-ea"/>
                <a:ea typeface="+mj-ea"/>
                <a:cs typeface="+mj-ea"/>
              </a:rPr>
              <a:t>的项目文档生成构建工具</a:t>
            </a:r>
          </a:p>
          <a:p xmlns:a="http://schemas.openxmlformats.org/drawingml/2006/main">
            <a:pPr>
              <a:lnSpc>
                <a:spcPct val="120000"/>
              </a:lnSpc>
              <a:buNone/>
            </a:pPr>
            <a:r>
              <a:rPr sz="1600">
                <a:solidFill>
                  <a:schemeClr val="tx1">
                    <a:lumMod val="75000"/>
                    <a:lumOff val="25000"/>
                  </a:schemeClr>
                </a:solidFill>
                <a:latin typeface="+mj-ea"/>
                <a:ea typeface="+mj-ea"/>
                <a:cs typeface="+mj-ea"/>
              </a:rPr>
              <a:t>- </a:t>
            </a:r>
            <a:r>
              <a:rPr sz="1600">
                <a:solidFill>
                  <a:schemeClr val="tx1">
                    <a:lumMod val="75000"/>
                    <a:lumOff val="25000"/>
                  </a:schemeClr>
                </a:solidFill>
                <a:latin typeface="+mj-ea"/>
                <a:ea typeface="+mj-ea"/>
                <a:cs typeface="+mj-ea"/>
              </a:rPr>
              <a:t>版本管理追溯工具</a:t>
            </a:r>
          </a:p>
          <a:p xmlns:a="http://schemas.openxmlformats.org/drawingml/2006/main">
            <a:pPr>
              <a:lnSpc>
                <a:spcPct val="120000"/>
              </a:lnSpc>
              <a:buNone/>
            </a:pPr>
            <a:r>
              <a:rPr sz="1600">
                <a:solidFill>
                  <a:schemeClr val="tx1">
                    <a:lumMod val="75000"/>
                    <a:lumOff val="25000"/>
                  </a:schemeClr>
                </a:solidFill>
                <a:latin typeface="+mj-ea"/>
                <a:ea typeface="+mj-ea"/>
                <a:cs typeface="+mj-ea"/>
              </a:rPr>
              <a:t>- </a:t>
            </a:r>
            <a:r>
              <a:rPr sz="1600">
                <a:solidFill>
                  <a:schemeClr val="tx1">
                    <a:lumMod val="75000"/>
                    <a:lumOff val="25000"/>
                  </a:schemeClr>
                </a:solidFill>
                <a:latin typeface="+mj-ea"/>
                <a:ea typeface="+mj-ea"/>
                <a:cs typeface="+mj-ea"/>
              </a:rPr>
              <a:t>其他自动化</a:t>
            </a:r>
            <a:r>
              <a:rPr sz="1600">
                <a:solidFill>
                  <a:schemeClr val="tx1">
                    <a:lumMod val="75000"/>
                    <a:lumOff val="25000"/>
                  </a:schemeClr>
                </a:solidFill>
                <a:latin typeface="+mj-ea"/>
                <a:ea typeface="+mj-ea"/>
                <a:cs typeface="+mj-ea"/>
              </a:rPr>
              <a:t>脚本</a:t>
            </a:r>
          </a:p>
        </p:txBody>
      </p:sp>
    </p:spTree>
    <p:extLst>
      <p:ext uri="{BB962C8B-B14F-4D97-AF65-F5344CB8AC3E}">
        <p14:creationId xmlns:p14="http://schemas.microsoft.com/office/powerpoint/2010/main" val="2094832661"/>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A1FA8AAC-15CF-424B-860F-10062CD000DB}"/>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a:latin typeface="微软雅黑"/>
                <a:ea typeface="微软雅黑"/>
                <a:cs typeface="微软雅黑"/>
              </a:rPr>
              <a:t>2.</a:t>
            </a:r>
            <a:r>
              <a:rPr>
                <a:latin typeface="微软雅黑"/>
                <a:ea typeface="微软雅黑"/>
                <a:cs typeface="微软雅黑"/>
              </a:rPr>
              <a:t>能力模型个人举证</a:t>
            </a:r>
          </a:p>
        </p:txBody>
      </p:sp>
      <p:pic>
        <p:nvPicPr>
          <p:cNvPr id="3" name="图片 2"/>
          <p:cNvPicPr>
            <a:picLocks xmlns:a="http://schemas.openxmlformats.org/drawingml/2006/main" noChangeAspect="1"/>
          </p:cNvPicPr>
          <p:nvPr/>
        </p:nvPicPr>
        <p:blipFill>
          <a:blip xmlns:r="http://schemas.openxmlformats.org/officeDocument/2006/relationships" xmlns:a="http://schemas.openxmlformats.org/drawingml/2006/main" r:embed="R37a635e46b484043"/>
          <a:stretch xmlns:a="http://schemas.openxmlformats.org/drawingml/2006/main">
            <a:fillRect l="0" t="0" r="0" b="0"/>
          </a:stretch>
        </p:blipFill>
        <p:spPr>
          <a:xfrm xmlns:a="http://schemas.openxmlformats.org/drawingml/2006/main">
            <a:off x="4253230" y="1261745"/>
            <a:ext cx="2738755" cy="3564890"/>
          </a:xfrm>
          <a:prstGeom xmlns:a="http://schemas.openxmlformats.org/drawingml/2006/main" prst="rect">
            <a:avLst/>
          </a:prstGeom>
        </p:spPr>
      </p:pic>
      <p:pic>
        <p:nvPicPr>
          <p:cNvPr id="4" name="图片 3"/>
          <p:cNvPicPr>
            <a:picLocks xmlns:a="http://schemas.openxmlformats.org/drawingml/2006/main" noChangeAspect="1"/>
          </p:cNvPicPr>
          <p:nvPr/>
        </p:nvPicPr>
        <p:blipFill>
          <a:blip xmlns:r="http://schemas.openxmlformats.org/officeDocument/2006/relationships" xmlns:a="http://schemas.openxmlformats.org/drawingml/2006/main" r:embed="Rc9c96ace88ed4f71"/>
          <a:stretch xmlns:a="http://schemas.openxmlformats.org/drawingml/2006/main">
            <a:fillRect l="0" t="0" r="0" b="0"/>
          </a:stretch>
        </p:blipFill>
        <p:spPr>
          <a:xfrm xmlns:a="http://schemas.openxmlformats.org/drawingml/2006/main">
            <a:off x="5682615" y="2412365"/>
            <a:ext cx="1698625" cy="2414270"/>
          </a:xfrm>
          <a:prstGeom xmlns:a="http://schemas.openxmlformats.org/drawingml/2006/main" prst="rect">
            <a:avLst/>
          </a:prstGeom>
        </p:spPr>
      </p:pic>
      <p:sp>
        <p:nvSpPr>
          <p:cNvPr id="9" name="文本框 8">
            <a:extLst xmlns:a="http://schemas.openxmlformats.org/drawingml/2006/main">
              <a:ext uri="{FF2B5EF4-FFF2-40B4-BE49-F238E27FC236}">
                <a16:creationId xmlns:a16="http://schemas.microsoft.com/office/drawing/2014/main" id="{E2AB4E26-3791-4FE7-BA19-CC01028A96EE}"/>
              </a:ext>
            </a:extLst>
          </p:cNvPr>
          <p:cNvSpPr>
            <a:spLocks xmlns:a="http://schemas.openxmlformats.org/drawingml/2006/main" noGrp="1"/>
          </p:cNvSpPr>
          <p:nvPr/>
        </p:nvSpPr>
        <p:spPr>
          <a:xfrm xmlns:a="http://schemas.openxmlformats.org/drawingml/2006/main">
            <a:off x="4043045" y="5033645"/>
            <a:ext cx="3338195"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a:solidFill>
                  <a:schemeClr val="accent1"/>
                </a:solidFill>
              </a:rPr>
              <a:t>产品版本管理追溯</a:t>
            </a:r>
            <a:r>
              <a:rPr sz="2400">
                <a:solidFill>
                  <a:schemeClr val="accent1"/>
                </a:solidFill>
              </a:rPr>
              <a:t>工具</a:t>
            </a:r>
          </a:p>
        </p:txBody>
      </p:sp>
      <p:sp>
        <p:nvSpPr>
          <p:cNvPr id="16" name="文本框 15">
            <a:extLst xmlns:a="http://schemas.openxmlformats.org/drawingml/2006/main">
              <a:ext uri="{FF2B5EF4-FFF2-40B4-BE49-F238E27FC236}">
                <a16:creationId xmlns:a16="http://schemas.microsoft.com/office/drawing/2014/main" id="{63A71301-27D7-4626-B82B-E1A9EB713150}"/>
              </a:ext>
            </a:extLst>
          </p:cNvPr>
          <p:cNvSpPr>
            <a:spLocks xmlns:a="http://schemas.openxmlformats.org/drawingml/2006/main" noGrp="1"/>
          </p:cNvSpPr>
          <p:nvPr/>
        </p:nvSpPr>
        <p:spPr>
          <a:xfrm xmlns:a="http://schemas.openxmlformats.org/drawingml/2006/main">
            <a:off x="4043045" y="5589905"/>
            <a:ext cx="3068320" cy="73723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400">
                <a:latin typeface="+mj-ea"/>
                <a:ea typeface="+mj-ea"/>
                <a:cs typeface="+mj-ea"/>
              </a:rPr>
              <a:t>用于内部管理不同产品版本</a:t>
            </a:r>
            <a:r>
              <a:rPr sz="1400">
                <a:latin typeface="+mj-ea"/>
                <a:ea typeface="+mj-ea"/>
                <a:cs typeface="+mj-ea"/>
              </a:rPr>
              <a:t>/</a:t>
            </a:r>
            <a:r>
              <a:rPr sz="1400">
                <a:latin typeface="+mj-ea"/>
                <a:ea typeface="+mj-ea"/>
                <a:cs typeface="+mj-ea"/>
              </a:rPr>
              <a:t>客户定制版本下</a:t>
            </a:r>
            <a:r>
              <a:rPr sz="1400">
                <a:latin typeface="+mj-ea"/>
                <a:ea typeface="+mj-ea"/>
                <a:cs typeface="+mj-ea"/>
              </a:rPr>
              <a:t>，</a:t>
            </a:r>
            <a:r>
              <a:rPr sz="1400">
                <a:latin typeface="+mj-ea"/>
                <a:ea typeface="+mj-ea"/>
                <a:cs typeface="+mj-ea"/>
              </a:rPr>
              <a:t>前端，后端</a:t>
            </a:r>
            <a:r>
              <a:rPr sz="1400">
                <a:latin typeface="+mj-ea"/>
                <a:ea typeface="+mj-ea"/>
                <a:cs typeface="+mj-ea"/>
              </a:rPr>
              <a:t>，</a:t>
            </a:r>
            <a:r>
              <a:rPr sz="1400">
                <a:latin typeface="+mj-ea"/>
                <a:ea typeface="+mj-ea"/>
                <a:cs typeface="+mj-ea"/>
              </a:rPr>
              <a:t>算法打包提交的代码</a:t>
            </a:r>
            <a:r>
              <a:rPr sz="1400">
                <a:latin typeface="+mj-ea"/>
                <a:ea typeface="+mj-ea"/>
                <a:cs typeface="+mj-ea"/>
              </a:rPr>
              <a:t>版本</a:t>
            </a:r>
          </a:p>
        </p:txBody>
      </p:sp>
      <p:pic>
        <p:nvPicPr>
          <p:cNvPr id="17" name="图片 4"/>
          <p:cNvPicPr>
            <a:picLocks xmlns:a="http://schemas.openxmlformats.org/drawingml/2006/main" noChangeAspect="1"/>
          </p:cNvPicPr>
          <p:nvPr/>
        </p:nvPicPr>
        <p:blipFill>
          <a:blip xmlns:r="http://schemas.openxmlformats.org/officeDocument/2006/relationships" xmlns:a="http://schemas.openxmlformats.org/drawingml/2006/main" r:embed="Rf2054389c65f4ccd"/>
          <a:stretch xmlns:a="http://schemas.openxmlformats.org/drawingml/2006/main">
            <a:fillRect l="0" t="0" r="0" b="0"/>
          </a:stretch>
        </p:blipFill>
        <p:spPr>
          <a:xfrm xmlns:a="http://schemas.openxmlformats.org/drawingml/2006/main">
            <a:off x="7667625" y="3310890"/>
            <a:ext cx="4283710" cy="1515745"/>
          </a:xfrm>
          <a:prstGeom xmlns:a="http://schemas.openxmlformats.org/drawingml/2006/main" prst="rect">
            <a:avLst/>
          </a:prstGeom>
        </p:spPr>
      </p:pic>
      <p:pic>
        <p:nvPicPr>
          <p:cNvPr id="18" name="图片 6"/>
          <p:cNvPicPr>
            <a:picLocks xmlns:a="http://schemas.openxmlformats.org/drawingml/2006/main" noChangeAspect="1"/>
          </p:cNvPicPr>
          <p:nvPr/>
        </p:nvPicPr>
        <p:blipFill>
          <a:blip xmlns:r="http://schemas.openxmlformats.org/officeDocument/2006/relationships" xmlns:a="http://schemas.openxmlformats.org/drawingml/2006/main" r:embed="Ra181427a5dec4fc1"/>
          <a:stretch xmlns:a="http://schemas.openxmlformats.org/drawingml/2006/main">
            <a:fillRect l="0" t="0" r="0" b="0"/>
          </a:stretch>
        </p:blipFill>
        <p:spPr>
          <a:xfrm xmlns:a="http://schemas.openxmlformats.org/drawingml/2006/main">
            <a:off x="7667625" y="1261745"/>
            <a:ext cx="4283710" cy="2033905"/>
          </a:xfrm>
          <a:prstGeom xmlns:a="http://schemas.openxmlformats.org/drawingml/2006/main" prst="rect">
            <a:avLst/>
          </a:prstGeom>
        </p:spPr>
      </p:pic>
      <p:sp>
        <p:nvSpPr>
          <p:cNvPr id="8" name="文本框 7">
            <a:extLst xmlns:a="http://schemas.openxmlformats.org/drawingml/2006/main">
              <a:ext uri="{FF2B5EF4-FFF2-40B4-BE49-F238E27FC236}">
                <a16:creationId xmlns:a16="http://schemas.microsoft.com/office/drawing/2014/main" id="{92628C1A-0569-4F0B-8776-963D838438CF}"/>
              </a:ext>
            </a:extLst>
          </p:cNvPr>
          <p:cNvSpPr>
            <a:spLocks xmlns:a="http://schemas.openxmlformats.org/drawingml/2006/main" noGrp="1"/>
          </p:cNvSpPr>
          <p:nvPr/>
        </p:nvSpPr>
        <p:spPr>
          <a:xfrm xmlns:a="http://schemas.openxmlformats.org/drawingml/2006/main">
            <a:off x="7667625" y="5033645"/>
            <a:ext cx="3679190"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a:solidFill>
                  <a:schemeClr val="accent1"/>
                </a:solidFill>
              </a:rPr>
              <a:t>项目文档生成</a:t>
            </a:r>
            <a:r>
              <a:rPr sz="2400">
                <a:solidFill>
                  <a:schemeClr val="accent1"/>
                </a:solidFill>
              </a:rPr>
              <a:t>&amp;</a:t>
            </a:r>
            <a:r>
              <a:rPr sz="2400">
                <a:solidFill>
                  <a:schemeClr val="accent1"/>
                </a:solidFill>
              </a:rPr>
              <a:t>构建</a:t>
            </a:r>
            <a:r>
              <a:rPr sz="2400">
                <a:solidFill>
                  <a:schemeClr val="accent1"/>
                </a:solidFill>
              </a:rPr>
              <a:t>工具</a:t>
            </a:r>
          </a:p>
        </p:txBody>
      </p:sp>
      <p:sp>
        <p:nvSpPr>
          <p:cNvPr id="10" name="文本框 9">
            <a:extLst xmlns:a="http://schemas.openxmlformats.org/drawingml/2006/main">
              <a:ext uri="{FF2B5EF4-FFF2-40B4-BE49-F238E27FC236}">
                <a16:creationId xmlns:a16="http://schemas.microsoft.com/office/drawing/2014/main" id="{7AB9F17F-09BB-4528-B950-4D0D85449305}"/>
              </a:ext>
            </a:extLst>
          </p:cNvPr>
          <p:cNvSpPr>
            <a:spLocks xmlns:a="http://schemas.openxmlformats.org/drawingml/2006/main" noGrp="1"/>
          </p:cNvSpPr>
          <p:nvPr/>
        </p:nvSpPr>
        <p:spPr>
          <a:xfrm xmlns:a="http://schemas.openxmlformats.org/drawingml/2006/main">
            <a:off x="7667625" y="5589905"/>
            <a:ext cx="3634105" cy="73723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400">
                <a:latin typeface="+mj-ea"/>
                <a:ea typeface="+mj-ea"/>
                <a:cs typeface="+mj-ea"/>
              </a:rPr>
              <a:t>使用大模型分析项目位置的代码</a:t>
            </a:r>
            <a:r>
              <a:rPr sz="1400">
                <a:latin typeface="+mj-ea"/>
                <a:ea typeface="+mj-ea"/>
                <a:cs typeface="+mj-ea"/>
              </a:rPr>
              <a:t>，</a:t>
            </a:r>
            <a:r>
              <a:rPr sz="1400">
                <a:latin typeface="+mj-ea"/>
                <a:ea typeface="+mj-ea"/>
                <a:cs typeface="+mj-ea"/>
              </a:rPr>
              <a:t>并生成规范的项目文档</a:t>
            </a:r>
            <a:r>
              <a:rPr sz="1400">
                <a:latin typeface="+mj-ea"/>
                <a:ea typeface="+mj-ea"/>
                <a:cs typeface="+mj-ea"/>
              </a:rPr>
              <a:t>，</a:t>
            </a:r>
            <a:r>
              <a:rPr sz="1400">
                <a:latin typeface="+mj-ea"/>
                <a:ea typeface="+mj-ea"/>
                <a:cs typeface="+mj-ea"/>
              </a:rPr>
              <a:t>打包发布文档页面</a:t>
            </a:r>
            <a:r>
              <a:rPr sz="1400">
                <a:latin typeface="+mj-ea"/>
                <a:ea typeface="+mj-ea"/>
                <a:cs typeface="+mj-ea"/>
              </a:rPr>
              <a:t>，</a:t>
            </a:r>
            <a:r>
              <a:rPr sz="1400">
                <a:latin typeface="+mj-ea"/>
                <a:ea typeface="+mj-ea"/>
                <a:cs typeface="+mj-ea"/>
              </a:rPr>
              <a:t>解决旧项目文档不齐全</a:t>
            </a:r>
            <a:r>
              <a:rPr sz="1400">
                <a:latin typeface="+mj-ea"/>
                <a:ea typeface="+mj-ea"/>
                <a:cs typeface="+mj-ea"/>
              </a:rPr>
              <a:t>，</a:t>
            </a:r>
            <a:r>
              <a:rPr sz="1400">
                <a:latin typeface="+mj-ea"/>
                <a:ea typeface="+mj-ea"/>
                <a:cs typeface="+mj-ea"/>
              </a:rPr>
              <a:t>项目对接繁琐的</a:t>
            </a:r>
            <a:r>
              <a:rPr sz="1400">
                <a:latin typeface="+mj-ea"/>
                <a:ea typeface="+mj-ea"/>
                <a:cs typeface="+mj-ea"/>
              </a:rPr>
              <a:t>问题</a:t>
            </a:r>
          </a:p>
        </p:txBody>
      </p:sp>
      <p:pic>
        <p:nvPicPr>
          <p:cNvPr id="21" name="图片 10"/>
          <p:cNvPicPr>
            <a:picLocks xmlns:a="http://schemas.openxmlformats.org/drawingml/2006/main" noChangeAspect="1"/>
          </p:cNvPicPr>
          <p:nvPr/>
        </p:nvPicPr>
        <p:blipFill>
          <a:blip xmlns:r="http://schemas.openxmlformats.org/officeDocument/2006/relationships" xmlns:a="http://schemas.openxmlformats.org/drawingml/2006/main" r:embed="R63eb83134a6042f9"/>
          <a:stretch xmlns:a="http://schemas.openxmlformats.org/drawingml/2006/main">
            <a:fillRect l="0" t="0" r="0" b="0"/>
          </a:stretch>
        </p:blipFill>
        <p:spPr>
          <a:xfrm xmlns:a="http://schemas.openxmlformats.org/drawingml/2006/main">
            <a:off x="236855" y="1579880"/>
            <a:ext cx="3769360" cy="2696210"/>
          </a:xfrm>
          <a:prstGeom xmlns:a="http://schemas.openxmlformats.org/drawingml/2006/main" prst="rect">
            <a:avLst/>
          </a:prstGeom>
        </p:spPr>
      </p:pic>
      <p:sp>
        <p:nvSpPr>
          <p:cNvPr id="12" name="文本框 11">
            <a:extLst xmlns:a="http://schemas.openxmlformats.org/drawingml/2006/main">
              <a:ext uri="{FF2B5EF4-FFF2-40B4-BE49-F238E27FC236}">
                <a16:creationId xmlns:a16="http://schemas.microsoft.com/office/drawing/2014/main" id="{B3C6BE0D-0C84-4AB5-B68C-34BBF02C476B}"/>
              </a:ext>
            </a:extLst>
          </p:cNvPr>
          <p:cNvSpPr>
            <a:spLocks xmlns:a="http://schemas.openxmlformats.org/drawingml/2006/main" noGrp="1"/>
          </p:cNvSpPr>
          <p:nvPr/>
        </p:nvSpPr>
        <p:spPr>
          <a:xfrm xmlns:a="http://schemas.openxmlformats.org/drawingml/2006/main">
            <a:off x="454660" y="5033645"/>
            <a:ext cx="2586990"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a:solidFill>
                  <a:schemeClr val="accent1"/>
                </a:solidFill>
              </a:rPr>
              <a:t>组件独立模块</a:t>
            </a:r>
            <a:r>
              <a:rPr sz="2400">
                <a:solidFill>
                  <a:schemeClr val="accent1"/>
                </a:solidFill>
              </a:rPr>
              <a:t>化</a:t>
            </a:r>
          </a:p>
        </p:txBody>
      </p:sp>
      <p:sp>
        <p:nvSpPr>
          <p:cNvPr id="13" name="文本框 12">
            <a:extLst xmlns:a="http://schemas.openxmlformats.org/drawingml/2006/main">
              <a:ext uri="{FF2B5EF4-FFF2-40B4-BE49-F238E27FC236}">
                <a16:creationId xmlns:a16="http://schemas.microsoft.com/office/drawing/2014/main" id="{D6B60525-F8F3-47B6-B90F-D3851707554D}"/>
              </a:ext>
            </a:extLst>
          </p:cNvPr>
          <p:cNvSpPr>
            <a:spLocks xmlns:a="http://schemas.openxmlformats.org/drawingml/2006/main" noGrp="1"/>
          </p:cNvSpPr>
          <p:nvPr/>
        </p:nvSpPr>
        <p:spPr>
          <a:xfrm xmlns:a="http://schemas.openxmlformats.org/drawingml/2006/main">
            <a:off x="454660" y="5536565"/>
            <a:ext cx="3313430" cy="11684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400">
                <a:latin typeface="+mj-ea"/>
                <a:ea typeface="+mj-ea"/>
                <a:cs typeface="+mj-ea"/>
              </a:rPr>
              <a:t>产品涉及的基础组件</a:t>
            </a:r>
            <a:r>
              <a:rPr sz="1400">
                <a:latin typeface="+mj-ea"/>
                <a:ea typeface="+mj-ea"/>
                <a:cs typeface="+mj-ea"/>
              </a:rPr>
              <a:t>（ui</a:t>
            </a:r>
            <a:r>
              <a:rPr sz="1400">
                <a:latin typeface="+mj-ea"/>
                <a:ea typeface="+mj-ea"/>
                <a:cs typeface="+mj-ea"/>
              </a:rPr>
              <a:t>元素</a:t>
            </a:r>
            <a:r>
              <a:rPr sz="1400">
                <a:latin typeface="+mj-ea"/>
                <a:ea typeface="+mj-ea"/>
                <a:cs typeface="+mj-ea"/>
              </a:rPr>
              <a:t>，icons,</a:t>
            </a:r>
            <a:r>
              <a:rPr sz="1400">
                <a:latin typeface="+mj-ea"/>
                <a:ea typeface="+mj-ea"/>
                <a:cs typeface="+mj-ea"/>
              </a:rPr>
              <a:t>主题配置等</a:t>
            </a:r>
            <a:r>
              <a:rPr sz="1400">
                <a:latin typeface="+mj-ea"/>
                <a:ea typeface="+mj-ea"/>
                <a:cs typeface="+mj-ea"/>
              </a:rPr>
              <a:t>）</a:t>
            </a:r>
            <a:r>
              <a:rPr sz="1400">
                <a:latin typeface="+mj-ea"/>
                <a:ea typeface="+mj-ea"/>
                <a:cs typeface="+mj-ea"/>
              </a:rPr>
              <a:t>到复杂应用组件</a:t>
            </a:r>
            <a:r>
              <a:rPr sz="1400">
                <a:latin typeface="+mj-ea"/>
                <a:ea typeface="+mj-ea"/>
                <a:cs typeface="+mj-ea"/>
              </a:rPr>
              <a:t>（</a:t>
            </a:r>
            <a:r>
              <a:rPr sz="1400">
                <a:latin typeface="+mj-ea"/>
                <a:ea typeface="+mj-ea"/>
                <a:cs typeface="+mj-ea"/>
              </a:rPr>
              <a:t>写作</a:t>
            </a:r>
            <a:r>
              <a:rPr sz="1400">
                <a:latin typeface="+mj-ea"/>
                <a:ea typeface="+mj-ea"/>
                <a:cs typeface="+mj-ea"/>
              </a:rPr>
              <a:t>，</a:t>
            </a:r>
            <a:r>
              <a:rPr sz="1400">
                <a:latin typeface="+mj-ea"/>
                <a:ea typeface="+mj-ea"/>
                <a:cs typeface="+mj-ea"/>
              </a:rPr>
              <a:t>问答需要的渲染器</a:t>
            </a:r>
            <a:r>
              <a:rPr sz="1400">
                <a:latin typeface="+mj-ea"/>
                <a:ea typeface="+mj-ea"/>
                <a:cs typeface="+mj-ea"/>
              </a:rPr>
              <a:t>，</a:t>
            </a:r>
            <a:r>
              <a:rPr sz="1400">
                <a:latin typeface="+mj-ea"/>
                <a:ea typeface="+mj-ea"/>
                <a:cs typeface="+mj-ea"/>
              </a:rPr>
              <a:t>动态表格等</a:t>
            </a:r>
            <a:r>
              <a:rPr sz="1400">
                <a:latin typeface="+mj-ea"/>
                <a:ea typeface="+mj-ea"/>
                <a:cs typeface="+mj-ea"/>
              </a:rPr>
              <a:t>）</a:t>
            </a:r>
            <a:r>
              <a:rPr sz="1400">
                <a:latin typeface="+mj-ea"/>
                <a:ea typeface="+mj-ea"/>
                <a:cs typeface="+mj-ea"/>
              </a:rPr>
              <a:t>实现完全模块化</a:t>
            </a:r>
            <a:r>
              <a:rPr sz="1400">
                <a:latin typeface="+mj-ea"/>
                <a:ea typeface="+mj-ea"/>
                <a:cs typeface="+mj-ea"/>
              </a:rPr>
              <a:t>。</a:t>
            </a:r>
            <a:r>
              <a:rPr sz="1400">
                <a:latin typeface="+mj-ea"/>
                <a:ea typeface="+mj-ea"/>
                <a:cs typeface="+mj-ea"/>
              </a:rPr>
              <a:t>独立模块同时产出文档和演示</a:t>
            </a:r>
            <a:r>
              <a:rPr sz="1400">
                <a:latin typeface="+mj-ea"/>
                <a:ea typeface="+mj-ea"/>
                <a:cs typeface="+mj-ea"/>
              </a:rPr>
              <a:t>，</a:t>
            </a:r>
            <a:r>
              <a:rPr sz="1400">
                <a:latin typeface="+mj-ea"/>
                <a:ea typeface="+mj-ea"/>
                <a:cs typeface="+mj-ea"/>
              </a:rPr>
              <a:t>方便对接人员快速上手使用</a:t>
            </a:r>
            <a:r>
              <a:rPr sz="1400">
                <a:latin typeface="+mj-ea"/>
                <a:ea typeface="+mj-ea"/>
                <a:cs typeface="+mj-ea"/>
              </a:rPr>
              <a:t>集成</a:t>
            </a:r>
          </a:p>
        </p:txBody>
      </p:sp>
    </p:spTree>
    <p:extLst>
      <p:ext uri="{BB962C8B-B14F-4D97-AF65-F5344CB8AC3E}">
        <p14:creationId xmlns:p14="http://schemas.microsoft.com/office/powerpoint/2010/main" val="1196566466"/>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FD6423B1-72F4-4C2B-AC43-FD07D9EF9FD0}"/>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a:latin typeface="微软雅黑"/>
                <a:ea typeface="微软雅黑"/>
                <a:cs typeface="微软雅黑"/>
              </a:rPr>
              <a:t>2.</a:t>
            </a:r>
            <a:r>
              <a:rPr>
                <a:latin typeface="微软雅黑"/>
                <a:ea typeface="微软雅黑"/>
                <a:cs typeface="微软雅黑"/>
              </a:rPr>
              <a:t>能力模型个人举证</a:t>
            </a:r>
          </a:p>
        </p:txBody>
      </p:sp>
      <p:sp>
        <p:nvSpPr>
          <p:cNvPr id="6" name="文本框 5">
            <a:extLst xmlns:a="http://schemas.openxmlformats.org/drawingml/2006/main">
              <a:ext uri="{FF2B5EF4-FFF2-40B4-BE49-F238E27FC236}">
                <a16:creationId xmlns:a16="http://schemas.microsoft.com/office/drawing/2014/main" id="{3BAD6131-0F79-4A13-BDCB-19153A5305EB}"/>
              </a:ext>
            </a:extLst>
          </p:cNvPr>
          <p:cNvSpPr>
            <a:spLocks xmlns:a="http://schemas.openxmlformats.org/drawingml/2006/main" noGrp="1"/>
          </p:cNvSpPr>
          <p:nvPr/>
        </p:nvSpPr>
        <p:spPr>
          <a:xfrm xmlns:a="http://schemas.openxmlformats.org/drawingml/2006/main">
            <a:off x="569595" y="1240790"/>
            <a:ext cx="6937375" cy="3987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000">
                <a:solidFill>
                  <a:schemeClr val="accent1"/>
                </a:solidFill>
                <a:latin typeface="+mj-ea"/>
                <a:ea typeface="+mj-ea"/>
                <a:cs typeface="+mj-ea"/>
              </a:rPr>
              <a:t>3. </a:t>
            </a:r>
            <a:r>
              <a:rPr sz="2000">
                <a:solidFill>
                  <a:schemeClr val="accent1"/>
                </a:solidFill>
                <a:latin typeface="+mj-ea"/>
                <a:ea typeface="+mj-ea"/>
                <a:cs typeface="+mj-ea"/>
              </a:rPr>
              <a:t>其他</a:t>
            </a:r>
            <a:r>
              <a:rPr sz="2000">
                <a:solidFill>
                  <a:schemeClr val="accent1"/>
                </a:solidFill>
                <a:latin typeface="+mj-ea"/>
                <a:ea typeface="+mj-ea"/>
                <a:cs typeface="+mj-ea"/>
              </a:rPr>
              <a:t>项目</a:t>
            </a:r>
          </a:p>
        </p:txBody>
      </p:sp>
      <p:sp>
        <p:nvSpPr>
          <p:cNvPr id="10" name="文本框 9">
            <a:extLst xmlns:a="http://schemas.openxmlformats.org/drawingml/2006/main">
              <a:ext uri="{FF2B5EF4-FFF2-40B4-BE49-F238E27FC236}">
                <a16:creationId xmlns:a16="http://schemas.microsoft.com/office/drawing/2014/main" id="{6B146A0C-6D7D-433E-BC47-71BE96231EAA}"/>
              </a:ext>
            </a:extLst>
          </p:cNvPr>
          <p:cNvSpPr>
            <a:spLocks xmlns:a="http://schemas.openxmlformats.org/drawingml/2006/main" noGrp="1"/>
          </p:cNvSpPr>
          <p:nvPr/>
        </p:nvSpPr>
        <p:spPr>
          <a:xfrm xmlns:a="http://schemas.openxmlformats.org/drawingml/2006/main">
            <a:off x="569595" y="1781810"/>
            <a:ext cx="3559175" cy="4634230"/>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pPr>
              <a:lnSpc>
                <a:spcPct val="120000"/>
              </a:lnSpc>
              <a:buNone/>
            </a:pPr>
            <a:r>
              <a:rPr sz="1600">
                <a:solidFill>
                  <a:schemeClr val="tx1">
                    <a:lumMod val="75000"/>
                    <a:lumOff val="25000"/>
                  </a:schemeClr>
                </a:solidFill>
                <a:latin typeface="+mj-ea"/>
                <a:ea typeface="+mj-ea"/>
                <a:cs typeface="+mj-ea"/>
              </a:rPr>
              <a:t>除长期核心业务和团队内部能力建设外，</a:t>
            </a:r>
            <a:r>
              <a:rPr sz="1600">
                <a:solidFill>
                  <a:schemeClr val="tx1">
                    <a:lumMod val="75000"/>
                    <a:lumOff val="25000"/>
                  </a:schemeClr>
                </a:solidFill>
                <a:latin typeface="+mj-ea"/>
                <a:ea typeface="+mj-ea"/>
                <a:cs typeface="+mj-ea"/>
              </a:rPr>
              <a:t>在这期间我还独立主导了</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源启</a:t>
            </a:r>
            <a:r>
              <a:rPr sz="1600">
                <a:solidFill>
                  <a:schemeClr val="tx1">
                    <a:lumMod val="75000"/>
                    <a:lumOff val="25000"/>
                  </a:schemeClr>
                </a:solidFill>
                <a:latin typeface="+mj-ea"/>
                <a:ea typeface="+mj-ea"/>
                <a:cs typeface="+mj-ea"/>
              </a:rPr>
              <a:t>AI+hub</a:t>
            </a:r>
            <a:r>
              <a:rPr sz="1600">
                <a:solidFill>
                  <a:schemeClr val="tx1">
                    <a:lumMod val="75000"/>
                    <a:lumOff val="25000"/>
                  </a:schemeClr>
                </a:solidFill>
                <a:latin typeface="+mj-ea"/>
                <a:ea typeface="+mj-ea"/>
                <a:cs typeface="+mj-ea"/>
              </a:rPr>
              <a:t>社区</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项目</a:t>
            </a:r>
            <a:r>
              <a:rPr sz="1600">
                <a:solidFill>
                  <a:schemeClr val="tx1">
                    <a:lumMod val="75000"/>
                    <a:lumOff val="25000"/>
                  </a:schemeClr>
                </a:solidFill>
                <a:latin typeface="+mj-ea"/>
                <a:ea typeface="+mj-ea"/>
                <a:cs typeface="+mj-ea"/>
              </a:rPr>
              <a:t> V1 </a:t>
            </a:r>
            <a:r>
              <a:rPr sz="1600">
                <a:solidFill>
                  <a:schemeClr val="tx1">
                    <a:lumMod val="75000"/>
                    <a:lumOff val="25000"/>
                  </a:schemeClr>
                </a:solidFill>
                <a:latin typeface="+mj-ea"/>
                <a:ea typeface="+mj-ea"/>
                <a:cs typeface="+mj-ea"/>
              </a:rPr>
              <a:t>版本的建设。在该项目中，我承担技术实现工作，还同时承担产品负责人，在资源有限和时间有限的情况下组件团队</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对项目从需求定义到版本落地的全过程负责。</a:t>
            </a:r>
          </a:p>
        </p:txBody>
      </p:sp>
      <p:pic>
        <p:nvPicPr>
          <p:cNvPr id="11" name="图片 3"/>
          <p:cNvPicPr>
            <a:picLocks xmlns:a="http://schemas.openxmlformats.org/drawingml/2006/main" noChangeAspect="1"/>
          </p:cNvPicPr>
          <p:nvPr/>
        </p:nvPicPr>
        <p:blipFill>
          <a:blip xmlns:r="http://schemas.openxmlformats.org/officeDocument/2006/relationships" xmlns:a="http://schemas.openxmlformats.org/drawingml/2006/main" r:embed="R5b742caec85b4f1f"/>
          <a:stretch xmlns:a="http://schemas.openxmlformats.org/drawingml/2006/main">
            <a:fillRect l="0" t="0" r="0" b="0"/>
          </a:stretch>
        </p:blipFill>
        <p:spPr>
          <a:xfrm xmlns:a="http://schemas.openxmlformats.org/drawingml/2006/main">
            <a:off x="5143500" y="2472690"/>
            <a:ext cx="6661785" cy="4193540"/>
          </a:xfrm>
          <a:prstGeom xmlns:a="http://schemas.openxmlformats.org/drawingml/2006/main" prst="rect">
            <a:avLst/>
          </a:prstGeom>
        </p:spPr>
      </p:pic>
      <p:pic>
        <p:nvPicPr>
          <p:cNvPr id="12" name="图片 2"/>
          <p:cNvPicPr>
            <a:picLocks xmlns:a="http://schemas.openxmlformats.org/drawingml/2006/main" noChangeAspect="1"/>
          </p:cNvPicPr>
          <p:nvPr/>
        </p:nvPicPr>
        <p:blipFill>
          <a:blip xmlns:r="http://schemas.openxmlformats.org/officeDocument/2006/relationships" xmlns:a="http://schemas.openxmlformats.org/drawingml/2006/main" r:embed="R9d65658e8cc4473e"/>
          <a:stretch xmlns:a="http://schemas.openxmlformats.org/drawingml/2006/main">
            <a:fillRect l="0" t="0" r="0" b="0"/>
          </a:stretch>
        </p:blipFill>
        <p:spPr>
          <a:xfrm xmlns:a="http://schemas.openxmlformats.org/drawingml/2006/main">
            <a:off x="4490720" y="727710"/>
            <a:ext cx="4839335" cy="5520055"/>
          </a:xfrm>
          <a:prstGeom xmlns:a="http://schemas.openxmlformats.org/drawingml/2006/main" prst="rect">
            <a:avLst/>
          </a:prstGeom>
        </p:spPr>
      </p:pic>
    </p:spTree>
    <p:extLst>
      <p:ext uri="{BB962C8B-B14F-4D97-AF65-F5344CB8AC3E}">
        <p14:creationId xmlns:p14="http://schemas.microsoft.com/office/powerpoint/2010/main" val="547456822"/>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4795A205-8433-41CB-846C-26D4D88DC3E6}"/>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a:latin typeface="微软雅黑"/>
                <a:ea typeface="微软雅黑"/>
                <a:cs typeface="微软雅黑"/>
              </a:rPr>
              <a:t>3</a:t>
            </a:r>
            <a:r>
              <a:rPr>
                <a:latin typeface="微软雅黑"/>
                <a:ea typeface="微软雅黑"/>
                <a:cs typeface="微软雅黑"/>
              </a:rPr>
              <a:t>.</a:t>
            </a:r>
            <a:r>
              <a:rPr>
                <a:latin typeface="微软雅黑"/>
                <a:ea typeface="微软雅黑"/>
                <a:cs typeface="微软雅黑"/>
              </a:rPr>
              <a:t>知识贡献及技术创新</a:t>
            </a:r>
          </a:p>
        </p:txBody>
      </p:sp>
      <p:pic>
        <p:nvPicPr>
          <p:cNvPr id="3" name="图片 2"/>
          <p:cNvPicPr>
            <a:picLocks xmlns:a="http://schemas.openxmlformats.org/drawingml/2006/main" noChangeAspect="1"/>
          </p:cNvPicPr>
          <p:nvPr/>
        </p:nvPicPr>
        <p:blipFill>
          <a:blip xmlns:r="http://schemas.openxmlformats.org/officeDocument/2006/relationships" xmlns:a="http://schemas.openxmlformats.org/drawingml/2006/main" r:embed="Rcd4b9735c6884704"/>
          <a:stretch xmlns:a="http://schemas.openxmlformats.org/drawingml/2006/main">
            <a:fillRect l="0" t="0" r="0" b="0"/>
          </a:stretch>
        </p:blipFill>
        <p:spPr>
          <a:xfrm xmlns:a="http://schemas.openxmlformats.org/drawingml/2006/main">
            <a:off x="5190490" y="1391920"/>
            <a:ext cx="6462395" cy="4493260"/>
          </a:xfrm>
          <a:prstGeom xmlns:a="http://schemas.openxmlformats.org/drawingml/2006/main" prst="rect">
            <a:avLst/>
          </a:prstGeom>
        </p:spPr>
      </p:pic>
      <p:sp>
        <p:nvSpPr>
          <p:cNvPr id="5" name="文本框 4">
            <a:extLst xmlns:a="http://schemas.openxmlformats.org/drawingml/2006/main">
              <a:ext uri="{FF2B5EF4-FFF2-40B4-BE49-F238E27FC236}">
                <a16:creationId xmlns:a16="http://schemas.microsoft.com/office/drawing/2014/main" id="{DA3863D9-C42C-4DB0-AA91-F2A2A0DA1264}"/>
              </a:ext>
            </a:extLst>
          </p:cNvPr>
          <p:cNvSpPr>
            <a:spLocks xmlns:a="http://schemas.openxmlformats.org/drawingml/2006/main" noGrp="1"/>
          </p:cNvSpPr>
          <p:nvPr/>
        </p:nvSpPr>
        <p:spPr>
          <a:xfrm xmlns:a="http://schemas.openxmlformats.org/drawingml/2006/main">
            <a:off x="1005840" y="3244850"/>
            <a:ext cx="3192780" cy="82994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a:solidFill>
                  <a:schemeClr val="accent1"/>
                </a:solidFill>
                <a:latin typeface="+mj-ea"/>
                <a:ea typeface="+mj-ea"/>
                <a:cs typeface="+mj-ea"/>
              </a:rPr>
              <a:t>一</a:t>
            </a:r>
            <a:r>
              <a:rPr sz="2400">
                <a:solidFill>
                  <a:schemeClr val="accent1"/>
                </a:solidFill>
                <a:latin typeface="+mj-ea"/>
                <a:ea typeface="+mj-ea"/>
                <a:cs typeface="+mj-ea"/>
              </a:rPr>
              <a:t>. </a:t>
            </a:r>
            <a:r>
              <a:rPr sz="2400">
                <a:solidFill>
                  <a:schemeClr val="accent1"/>
                </a:solidFill>
                <a:latin typeface="+mj-ea"/>
                <a:ea typeface="+mj-ea"/>
                <a:cs typeface="+mj-ea"/>
              </a:rPr>
              <a:t>公司内部</a:t>
            </a:r>
            <a:r>
              <a:rPr sz="2400">
                <a:solidFill>
                  <a:schemeClr val="accent1"/>
                </a:solidFill>
                <a:latin typeface="+mj-ea"/>
                <a:ea typeface="+mj-ea"/>
                <a:cs typeface="+mj-ea"/>
              </a:rPr>
              <a:t>AI</a:t>
            </a:r>
            <a:r>
              <a:rPr sz="2400">
                <a:solidFill>
                  <a:schemeClr val="accent1"/>
                </a:solidFill>
                <a:latin typeface="+mj-ea"/>
                <a:ea typeface="+mj-ea"/>
                <a:cs typeface="+mj-ea"/>
              </a:rPr>
              <a:t>培训课程讲师</a:t>
            </a:r>
          </a:p>
        </p:txBody>
      </p:sp>
    </p:spTree>
    <p:extLst>
      <p:ext uri="{BB962C8B-B14F-4D97-AF65-F5344CB8AC3E}">
        <p14:creationId xmlns:p14="http://schemas.microsoft.com/office/powerpoint/2010/main" val="584520330"/>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94894C7B-E0BD-4688-BCD3-F16D217BD56E}"/>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a:latin typeface="微软雅黑"/>
                <a:ea typeface="微软雅黑"/>
                <a:cs typeface="微软雅黑"/>
              </a:rPr>
              <a:t>3</a:t>
            </a:r>
            <a:r>
              <a:rPr>
                <a:latin typeface="微软雅黑"/>
                <a:ea typeface="微软雅黑"/>
                <a:cs typeface="微软雅黑"/>
              </a:rPr>
              <a:t>.</a:t>
            </a:r>
            <a:r>
              <a:rPr>
                <a:latin typeface="微软雅黑"/>
                <a:ea typeface="微软雅黑"/>
                <a:cs typeface="微软雅黑"/>
              </a:rPr>
              <a:t>知识贡献及技术创新</a:t>
            </a:r>
          </a:p>
        </p:txBody>
      </p:sp>
      <p:pic>
        <p:nvPicPr>
          <p:cNvPr id="3" name="图片 3"/>
          <p:cNvPicPr>
            <a:picLocks xmlns:a="http://schemas.openxmlformats.org/drawingml/2006/main" noChangeAspect="1"/>
          </p:cNvPicPr>
          <p:nvPr/>
        </p:nvPicPr>
        <p:blipFill>
          <a:blip xmlns:r="http://schemas.openxmlformats.org/officeDocument/2006/relationships" xmlns:a="http://schemas.openxmlformats.org/drawingml/2006/main" r:embed="Rdef0b44ccab244c8"/>
          <a:stretch xmlns:a="http://schemas.openxmlformats.org/drawingml/2006/main">
            <a:fillRect l="0" t="0" r="0" b="0"/>
          </a:stretch>
        </p:blipFill>
        <p:spPr>
          <a:xfrm xmlns:a="http://schemas.openxmlformats.org/drawingml/2006/main">
            <a:off x="4990465" y="1377950"/>
            <a:ext cx="6793865" cy="4578350"/>
          </a:xfrm>
          <a:prstGeom xmlns:a="http://schemas.openxmlformats.org/drawingml/2006/main" prst="rect">
            <a:avLst/>
          </a:prstGeom>
        </p:spPr>
      </p:pic>
      <p:sp>
        <p:nvSpPr>
          <p:cNvPr id="5" name="文本框 4">
            <a:extLst xmlns:a="http://schemas.openxmlformats.org/drawingml/2006/main">
              <a:ext uri="{FF2B5EF4-FFF2-40B4-BE49-F238E27FC236}">
                <a16:creationId xmlns:a16="http://schemas.microsoft.com/office/drawing/2014/main" id="{221A7461-6282-4434-9F04-4195AB989964}"/>
              </a:ext>
            </a:extLst>
          </p:cNvPr>
          <p:cNvSpPr>
            <a:spLocks xmlns:a="http://schemas.openxmlformats.org/drawingml/2006/main" noGrp="1"/>
          </p:cNvSpPr>
          <p:nvPr/>
        </p:nvSpPr>
        <p:spPr>
          <a:xfrm xmlns:a="http://schemas.openxmlformats.org/drawingml/2006/main">
            <a:off x="1110615" y="3244850"/>
            <a:ext cx="2617470"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a:solidFill>
                  <a:schemeClr val="accent1"/>
                </a:solidFill>
                <a:latin typeface="+mj-ea"/>
                <a:ea typeface="+mj-ea"/>
                <a:cs typeface="+mj-ea"/>
              </a:rPr>
              <a:t>二</a:t>
            </a:r>
            <a:r>
              <a:rPr sz="2400">
                <a:solidFill>
                  <a:schemeClr val="accent1"/>
                </a:solidFill>
                <a:latin typeface="+mj-ea"/>
                <a:ea typeface="+mj-ea"/>
                <a:cs typeface="+mj-ea"/>
              </a:rPr>
              <a:t>. </a:t>
            </a:r>
            <a:r>
              <a:rPr sz="2400">
                <a:solidFill>
                  <a:schemeClr val="accent1"/>
                </a:solidFill>
                <a:latin typeface="+mj-ea"/>
                <a:ea typeface="+mj-ea"/>
                <a:cs typeface="+mj-ea"/>
              </a:rPr>
              <a:t>公司专利提交</a:t>
            </a:r>
          </a:p>
        </p:txBody>
      </p:sp>
    </p:spTree>
    <p:extLst>
      <p:ext uri="{BB962C8B-B14F-4D97-AF65-F5344CB8AC3E}">
        <p14:creationId xmlns:p14="http://schemas.microsoft.com/office/powerpoint/2010/main" val="1280669083"/>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06DC6586-58CC-4DC8-A5A0-E7E382E1C1DE}"/>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a:latin typeface="微软雅黑"/>
                <a:ea typeface="微软雅黑"/>
                <a:cs typeface="微软雅黑"/>
              </a:rPr>
              <a:t>3</a:t>
            </a:r>
            <a:r>
              <a:rPr>
                <a:latin typeface="微软雅黑"/>
                <a:ea typeface="微软雅黑"/>
                <a:cs typeface="微软雅黑"/>
              </a:rPr>
              <a:t>.</a:t>
            </a:r>
            <a:r>
              <a:rPr>
                <a:latin typeface="微软雅黑"/>
                <a:ea typeface="微软雅黑"/>
                <a:cs typeface="微软雅黑"/>
              </a:rPr>
              <a:t>知识贡献及技术创新</a:t>
            </a:r>
          </a:p>
        </p:txBody>
      </p:sp>
      <p:pic>
        <p:nvPicPr>
          <p:cNvPr id="3" name="图片 4"/>
          <p:cNvPicPr>
            <a:picLocks xmlns:a="http://schemas.openxmlformats.org/drawingml/2006/main" noChangeAspect="1"/>
          </p:cNvPicPr>
          <p:nvPr/>
        </p:nvPicPr>
        <p:blipFill>
          <a:blip xmlns:r="http://schemas.openxmlformats.org/officeDocument/2006/relationships" xmlns:a="http://schemas.openxmlformats.org/drawingml/2006/main" r:embed="R289ad70797a14855"/>
          <a:stretch xmlns:a="http://schemas.openxmlformats.org/drawingml/2006/main">
            <a:fillRect l="0" t="0" r="0" b="0"/>
          </a:stretch>
        </p:blipFill>
        <p:spPr>
          <a:xfrm xmlns:a="http://schemas.openxmlformats.org/drawingml/2006/main">
            <a:off x="7726680" y="2122805"/>
            <a:ext cx="3129915" cy="2334895"/>
          </a:xfrm>
          <a:prstGeom xmlns:a="http://schemas.openxmlformats.org/drawingml/2006/main" prst="rect">
            <a:avLst/>
          </a:prstGeom>
        </p:spPr>
      </p:pic>
      <p:pic>
        <p:nvPicPr>
          <p:cNvPr id="4" name="图片 2"/>
          <p:cNvPicPr>
            <a:picLocks xmlns:a="http://schemas.openxmlformats.org/drawingml/2006/main" noChangeAspect="1"/>
          </p:cNvPicPr>
          <p:nvPr/>
        </p:nvPicPr>
        <p:blipFill>
          <a:blip xmlns:r="http://schemas.openxmlformats.org/officeDocument/2006/relationships" xmlns:a="http://schemas.openxmlformats.org/drawingml/2006/main" r:embed="R4269793c270744dd"/>
          <a:stretch xmlns:a="http://schemas.openxmlformats.org/drawingml/2006/main">
            <a:fillRect l="0" t="0" r="0" b="0"/>
          </a:stretch>
        </p:blipFill>
        <p:spPr>
          <a:xfrm xmlns:a="http://schemas.openxmlformats.org/drawingml/2006/main">
            <a:off x="6194425" y="1359535"/>
            <a:ext cx="2737485" cy="1936115"/>
          </a:xfrm>
          <a:prstGeom xmlns:a="http://schemas.openxmlformats.org/drawingml/2006/main" prst="rect">
            <a:avLst/>
          </a:prstGeom>
        </p:spPr>
      </p:pic>
      <p:pic>
        <p:nvPicPr>
          <p:cNvPr id="5" name="图片 5"/>
          <p:cNvPicPr>
            <a:picLocks xmlns:a="http://schemas.openxmlformats.org/drawingml/2006/main" noChangeAspect="1"/>
          </p:cNvPicPr>
          <p:nvPr/>
        </p:nvPicPr>
        <p:blipFill>
          <a:blip xmlns:r="http://schemas.openxmlformats.org/officeDocument/2006/relationships" xmlns:a="http://schemas.openxmlformats.org/drawingml/2006/main" r:embed="R3343bb5e955841b0"/>
          <a:stretch xmlns:a="http://schemas.openxmlformats.org/drawingml/2006/main">
            <a:fillRect l="0" t="0" r="0" b="0"/>
          </a:stretch>
        </p:blipFill>
        <p:spPr>
          <a:xfrm xmlns:a="http://schemas.openxmlformats.org/drawingml/2006/main">
            <a:off x="6595110" y="3295650"/>
            <a:ext cx="2738120" cy="2371725"/>
          </a:xfrm>
          <a:prstGeom xmlns:a="http://schemas.openxmlformats.org/drawingml/2006/main" prst="rect">
            <a:avLst/>
          </a:prstGeom>
        </p:spPr>
      </p:pic>
      <p:pic>
        <p:nvPicPr>
          <p:cNvPr id="6" name="图片 6"/>
          <p:cNvPicPr>
            <a:picLocks xmlns:a="http://schemas.openxmlformats.org/drawingml/2006/main" noChangeAspect="1"/>
          </p:cNvPicPr>
          <p:nvPr/>
        </p:nvPicPr>
        <p:blipFill>
          <a:blip xmlns:r="http://schemas.openxmlformats.org/officeDocument/2006/relationships" xmlns:a="http://schemas.openxmlformats.org/drawingml/2006/main" r:embed="Ra64b0b9542e74a5f"/>
          <a:stretch xmlns:a="http://schemas.openxmlformats.org/drawingml/2006/main">
            <a:fillRect l="0" t="0" r="0" b="0"/>
          </a:stretch>
        </p:blipFill>
        <p:spPr>
          <a:xfrm xmlns:a="http://schemas.openxmlformats.org/drawingml/2006/main">
            <a:off x="8931910" y="4063365"/>
            <a:ext cx="2200275" cy="2082800"/>
          </a:xfrm>
          <a:prstGeom xmlns:a="http://schemas.openxmlformats.org/drawingml/2006/main" prst="rect">
            <a:avLst/>
          </a:prstGeom>
        </p:spPr>
      </p:pic>
      <p:pic>
        <p:nvPicPr>
          <p:cNvPr id="7" name="图片 7"/>
          <p:cNvPicPr>
            <a:picLocks xmlns:a="http://schemas.openxmlformats.org/drawingml/2006/main" noChangeAspect="1"/>
          </p:cNvPicPr>
          <p:nvPr/>
        </p:nvPicPr>
        <p:blipFill>
          <a:blip xmlns:r="http://schemas.openxmlformats.org/officeDocument/2006/relationships" xmlns:a="http://schemas.openxmlformats.org/drawingml/2006/main" r:embed="Rdd6e3b32eb3f4aae"/>
          <a:stretch xmlns:a="http://schemas.openxmlformats.org/drawingml/2006/main">
            <a:fillRect l="0" t="0" r="0" b="0"/>
          </a:stretch>
        </p:blipFill>
        <p:spPr>
          <a:xfrm xmlns:a="http://schemas.openxmlformats.org/drawingml/2006/main">
            <a:off x="8841740" y="1098550"/>
            <a:ext cx="2014855" cy="1936750"/>
          </a:xfrm>
          <a:prstGeom xmlns:a="http://schemas.openxmlformats.org/drawingml/2006/main" prst="rect">
            <a:avLst/>
          </a:prstGeom>
        </p:spPr>
      </p:pic>
      <p:sp>
        <p:nvSpPr>
          <p:cNvPr id="9" name="文本框 8">
            <a:extLst xmlns:a="http://schemas.openxmlformats.org/drawingml/2006/main">
              <a:ext uri="{FF2B5EF4-FFF2-40B4-BE49-F238E27FC236}">
                <a16:creationId xmlns:a16="http://schemas.microsoft.com/office/drawing/2014/main" id="{4EF04837-B22E-4DFB-865C-3105CB139835}"/>
              </a:ext>
            </a:extLst>
          </p:cNvPr>
          <p:cNvSpPr>
            <a:spLocks xmlns:a="http://schemas.openxmlformats.org/drawingml/2006/main" noGrp="1"/>
          </p:cNvSpPr>
          <p:nvPr/>
        </p:nvSpPr>
        <p:spPr>
          <a:xfrm xmlns:a="http://schemas.openxmlformats.org/drawingml/2006/main">
            <a:off x="936625" y="2931160"/>
            <a:ext cx="3599180" cy="11988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a:solidFill>
                  <a:schemeClr val="accent1"/>
                </a:solidFill>
                <a:latin typeface="+mj-ea"/>
                <a:ea typeface="+mj-ea"/>
                <a:cs typeface="+mj-ea"/>
              </a:rPr>
              <a:t>三</a:t>
            </a:r>
            <a:r>
              <a:rPr sz="2400">
                <a:solidFill>
                  <a:schemeClr val="accent1"/>
                </a:solidFill>
                <a:latin typeface="+mj-ea"/>
                <a:ea typeface="+mj-ea"/>
                <a:cs typeface="+mj-ea"/>
              </a:rPr>
              <a:t>. </a:t>
            </a:r>
            <a:r>
              <a:rPr sz="2400">
                <a:solidFill>
                  <a:schemeClr val="accent1"/>
                </a:solidFill>
                <a:latin typeface="+mj-ea"/>
                <a:ea typeface="+mj-ea"/>
                <a:cs typeface="+mj-ea"/>
              </a:rPr>
              <a:t>开源</a:t>
            </a:r>
            <a:r>
              <a:rPr sz="2400">
                <a:solidFill>
                  <a:schemeClr val="accent1"/>
                </a:solidFill>
                <a:latin typeface="+mj-ea"/>
                <a:ea typeface="+mj-ea"/>
                <a:cs typeface="+mj-ea"/>
              </a:rPr>
              <a:t>基础组件提供跨项目应用</a:t>
            </a:r>
            <a:r>
              <a:rPr sz="2400">
                <a:solidFill>
                  <a:schemeClr val="accent1"/>
                </a:solidFill>
                <a:latin typeface="+mj-ea"/>
                <a:ea typeface="+mj-ea"/>
                <a:cs typeface="+mj-ea"/>
              </a:rPr>
              <a:t>，</a:t>
            </a:r>
            <a:r>
              <a:rPr sz="2400">
                <a:solidFill>
                  <a:schemeClr val="accent1"/>
                </a:solidFill>
                <a:latin typeface="+mj-ea"/>
                <a:ea typeface="+mj-ea"/>
                <a:cs typeface="+mj-ea"/>
              </a:rPr>
              <a:t>稳定维护和高使用率</a:t>
            </a:r>
          </a:p>
        </p:txBody>
      </p:sp>
    </p:spTree>
    <p:extLst>
      <p:ext uri="{BB962C8B-B14F-4D97-AF65-F5344CB8AC3E}">
        <p14:creationId xmlns:p14="http://schemas.microsoft.com/office/powerpoint/2010/main" val="1565445990"/>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2DB7DDE5-395A-4ECA-AA31-D9886E696462}"/>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a:latin typeface="+mj-ea"/>
                <a:ea typeface="+mj-ea"/>
                <a:cs typeface="+mj-ea"/>
              </a:rPr>
              <a:t>4</a:t>
            </a:r>
            <a:r>
              <a:rPr>
                <a:latin typeface="+mj-ea"/>
                <a:ea typeface="+mj-ea"/>
                <a:cs typeface="+mj-ea"/>
              </a:rPr>
              <a:t>.</a:t>
            </a:r>
            <a:r>
              <a:rPr>
                <a:latin typeface="+mj-ea"/>
                <a:ea typeface="+mj-ea"/>
                <a:cs typeface="+mj-ea"/>
              </a:rPr>
              <a:t>个人对公司业务的建议</a:t>
            </a:r>
          </a:p>
        </p:txBody>
      </p:sp>
      <p:sp>
        <p:nvSpPr>
          <p:cNvPr id="5" name="文本框 4">
            <a:extLst xmlns:a="http://schemas.openxmlformats.org/drawingml/2006/main">
              <a:ext uri="{FF2B5EF4-FFF2-40B4-BE49-F238E27FC236}">
                <a16:creationId xmlns:a16="http://schemas.microsoft.com/office/drawing/2014/main" id="{E85E74D9-5693-4BA9-9C53-3C63EBF81042}"/>
              </a:ext>
            </a:extLst>
          </p:cNvPr>
          <p:cNvSpPr>
            <a:spLocks xmlns:a="http://schemas.openxmlformats.org/drawingml/2006/main" noGrp="1"/>
          </p:cNvSpPr>
          <p:nvPr/>
        </p:nvSpPr>
        <p:spPr>
          <a:xfrm xmlns:a="http://schemas.openxmlformats.org/drawingml/2006/main">
            <a:off x="443230" y="1538605"/>
            <a:ext cx="11386185" cy="9220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t>在</a:t>
            </a:r>
            <a:r>
              <a:t> AI Coding </a:t>
            </a:r>
            <a:r>
              <a:t>时代加速到来的背景下，应用工程类公司正在面临明显的行业变革，原有的人力组织模式、研发协作方式和产品交付路径都将受到持续冲击。我认为，公司需要尽快从战略层面重视这一变化，并主动推动组织能力升级。</a:t>
            </a:r>
          </a:p>
        </p:txBody>
      </p:sp>
      <p:sp>
        <p:nvSpPr>
          <p:cNvPr id="6" name="文本框 5">
            <a:extLst xmlns:a="http://schemas.openxmlformats.org/drawingml/2006/main">
              <a:ext uri="{FF2B5EF4-FFF2-40B4-BE49-F238E27FC236}">
                <a16:creationId xmlns:a16="http://schemas.microsoft.com/office/drawing/2014/main" id="{AE22E456-61C2-4C50-8612-89B8D4419E98}"/>
              </a:ext>
            </a:extLst>
          </p:cNvPr>
          <p:cNvSpPr>
            <a:spLocks xmlns:a="http://schemas.openxmlformats.org/drawingml/2006/main" noGrp="1"/>
          </p:cNvSpPr>
          <p:nvPr/>
        </p:nvSpPr>
        <p:spPr>
          <a:xfrm xmlns:a="http://schemas.openxmlformats.org/drawingml/2006/main">
            <a:off x="2190750" y="2654935"/>
            <a:ext cx="7810500" cy="58356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600">
                <a:solidFill>
                  <a:schemeClr val="tx1">
                    <a:lumMod val="75000"/>
                    <a:lumOff val="25000"/>
                  </a:schemeClr>
                </a:solidFill>
                <a:latin typeface="+mj-ea"/>
                <a:ea typeface="+mj-ea"/>
                <a:cs typeface="+mj-ea"/>
              </a:rPr>
              <a:t>1. </a:t>
            </a:r>
            <a:r>
              <a:rPr sz="1600">
                <a:solidFill>
                  <a:schemeClr val="tx1">
                    <a:lumMod val="75000"/>
                    <a:lumOff val="25000"/>
                  </a:schemeClr>
                </a:solidFill>
                <a:latin typeface="+mj-ea"/>
                <a:ea typeface="+mj-ea"/>
                <a:cs typeface="+mj-ea"/>
              </a:rPr>
              <a:t>系统性提升研发人员的</a:t>
            </a:r>
            <a:r>
              <a:rPr sz="1600">
                <a:solidFill>
                  <a:schemeClr val="tx1">
                    <a:lumMod val="75000"/>
                    <a:lumOff val="25000"/>
                  </a:schemeClr>
                </a:solidFill>
                <a:latin typeface="+mj-ea"/>
                <a:ea typeface="+mj-ea"/>
                <a:cs typeface="+mj-ea"/>
              </a:rPr>
              <a:t> AI </a:t>
            </a:r>
            <a:r>
              <a:rPr sz="1600">
                <a:solidFill>
                  <a:schemeClr val="tx1">
                    <a:lumMod val="75000"/>
                    <a:lumOff val="25000"/>
                  </a:schemeClr>
                </a:solidFill>
                <a:latin typeface="+mj-ea"/>
                <a:ea typeface="+mj-ea"/>
                <a:cs typeface="+mj-ea"/>
              </a:rPr>
              <a:t>编程能力，使团队能够熟练使用</a:t>
            </a:r>
            <a:r>
              <a:rPr sz="1600">
                <a:solidFill>
                  <a:schemeClr val="tx1">
                    <a:lumMod val="75000"/>
                    <a:lumOff val="25000"/>
                  </a:schemeClr>
                </a:solidFill>
                <a:latin typeface="+mj-ea"/>
                <a:ea typeface="+mj-ea"/>
                <a:cs typeface="+mj-ea"/>
              </a:rPr>
              <a:t> AI </a:t>
            </a:r>
            <a:r>
              <a:rPr sz="1600">
                <a:solidFill>
                  <a:schemeClr val="tx1">
                    <a:lumMod val="75000"/>
                    <a:lumOff val="25000"/>
                  </a:schemeClr>
                </a:solidFill>
                <a:latin typeface="+mj-ea"/>
                <a:ea typeface="+mj-ea"/>
                <a:cs typeface="+mj-ea"/>
              </a:rPr>
              <a:t>辅助开发工具参与需求分析、方案设计、编码实现、问题排查和效率优化，从而显著提升整体研发产出</a:t>
            </a:r>
          </a:p>
        </p:txBody>
      </p:sp>
      <p:sp>
        <p:nvSpPr>
          <p:cNvPr id="7" name="文本框 6">
            <a:extLst xmlns:a="http://schemas.openxmlformats.org/drawingml/2006/main">
              <a:ext uri="{FF2B5EF4-FFF2-40B4-BE49-F238E27FC236}">
                <a16:creationId xmlns:a16="http://schemas.microsoft.com/office/drawing/2014/main" id="{8E12946A-9D12-4489-934D-6F556F98F248}"/>
              </a:ext>
            </a:extLst>
          </p:cNvPr>
          <p:cNvSpPr>
            <a:spLocks xmlns:a="http://schemas.openxmlformats.org/drawingml/2006/main" noGrp="1"/>
          </p:cNvSpPr>
          <p:nvPr/>
        </p:nvSpPr>
        <p:spPr>
          <a:xfrm xmlns:a="http://schemas.openxmlformats.org/drawingml/2006/main">
            <a:off x="2190750" y="3386455"/>
            <a:ext cx="7789545" cy="82994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600">
                <a:solidFill>
                  <a:schemeClr val="tx1">
                    <a:lumMod val="75000"/>
                    <a:lumOff val="25000"/>
                  </a:schemeClr>
                </a:solidFill>
                <a:latin typeface="+mj-ea"/>
                <a:ea typeface="+mj-ea"/>
                <a:cs typeface="+mj-ea"/>
              </a:rPr>
              <a:t>2. </a:t>
            </a:r>
            <a:r>
              <a:rPr sz="1600">
                <a:solidFill>
                  <a:schemeClr val="tx1">
                    <a:lumMod val="75000"/>
                    <a:lumOff val="25000"/>
                  </a:schemeClr>
                </a:solidFill>
                <a:latin typeface="+mj-ea"/>
                <a:ea typeface="+mj-ea"/>
                <a:cs typeface="+mj-ea"/>
              </a:rPr>
              <a:t>重新审视人才能力结构，传统过于细分的前端、后端、产品岗位边界，未来可能不再完全适应新阶段的业务竞争环境，更需要培养具备产品理解、技术实现、业务落地和协同推进能力的复合型人才</a:t>
            </a:r>
          </a:p>
        </p:txBody>
      </p:sp>
      <p:sp>
        <p:nvSpPr>
          <p:cNvPr id="8" name="文本框 7">
            <a:extLst xmlns:a="http://schemas.openxmlformats.org/drawingml/2006/main">
              <a:ext uri="{FF2B5EF4-FFF2-40B4-BE49-F238E27FC236}">
                <a16:creationId xmlns:a16="http://schemas.microsoft.com/office/drawing/2014/main" id="{6927A64B-5A03-4B90-9783-248D630D7DF9}"/>
              </a:ext>
            </a:extLst>
          </p:cNvPr>
          <p:cNvSpPr>
            <a:spLocks xmlns:a="http://schemas.openxmlformats.org/drawingml/2006/main" noGrp="1"/>
          </p:cNvSpPr>
          <p:nvPr/>
        </p:nvSpPr>
        <p:spPr>
          <a:xfrm xmlns:a="http://schemas.openxmlformats.org/drawingml/2006/main">
            <a:off x="2218055" y="4364355"/>
            <a:ext cx="7789545" cy="107632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600">
                <a:solidFill>
                  <a:schemeClr val="tx1">
                    <a:lumMod val="75000"/>
                    <a:lumOff val="25000"/>
                  </a:schemeClr>
                </a:solidFill>
                <a:latin typeface="+mj-ea"/>
                <a:ea typeface="+mj-ea"/>
                <a:cs typeface="+mj-ea"/>
              </a:rPr>
              <a:t>3. </a:t>
            </a:r>
            <a:r>
              <a:rPr sz="1600">
                <a:solidFill>
                  <a:schemeClr val="tx1">
                    <a:lumMod val="75000"/>
                    <a:lumOff val="25000"/>
                  </a:schemeClr>
                </a:solidFill>
                <a:latin typeface="+mj-ea"/>
                <a:ea typeface="+mj-ea"/>
                <a:cs typeface="+mj-ea"/>
              </a:rPr>
              <a:t>建议公司逐步推动</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小团队</a:t>
            </a:r>
            <a:r>
              <a:rPr sz="1600">
                <a:solidFill>
                  <a:schemeClr val="tx1">
                    <a:lumMod val="75000"/>
                    <a:lumOff val="25000"/>
                  </a:schemeClr>
                </a:solidFill>
                <a:latin typeface="+mj-ea"/>
                <a:ea typeface="+mj-ea"/>
                <a:cs typeface="+mj-ea"/>
              </a:rPr>
              <a:t> + AI </a:t>
            </a:r>
            <a:r>
              <a:rPr sz="1600">
                <a:solidFill>
                  <a:schemeClr val="tx1">
                    <a:lumMod val="75000"/>
                    <a:lumOff val="25000"/>
                  </a:schemeClr>
                </a:solidFill>
                <a:latin typeface="+mj-ea"/>
                <a:ea typeface="+mj-ea"/>
                <a:cs typeface="+mj-ea"/>
              </a:rPr>
              <a:t>工具</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的业务验证模式，让更精干的团队借助</a:t>
            </a:r>
            <a:r>
              <a:rPr sz="1600">
                <a:solidFill>
                  <a:schemeClr val="tx1">
                    <a:lumMod val="75000"/>
                    <a:lumOff val="25000"/>
                  </a:schemeClr>
                </a:solidFill>
                <a:latin typeface="+mj-ea"/>
                <a:ea typeface="+mj-ea"/>
                <a:cs typeface="+mj-ea"/>
              </a:rPr>
              <a:t> AI </a:t>
            </a:r>
            <a:r>
              <a:rPr sz="1600">
                <a:solidFill>
                  <a:schemeClr val="tx1">
                    <a:lumMod val="75000"/>
                    <a:lumOff val="25000"/>
                  </a:schemeClr>
                </a:solidFill>
                <a:latin typeface="+mj-ea"/>
                <a:ea typeface="+mj-ea"/>
                <a:cs typeface="+mj-ea"/>
              </a:rPr>
              <a:t>能力快速完成需求理解、产品设计、原型构建和功能落地，以更短周期验证业务想法、加快试错节奏、提升创新效率</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不一味追求大而全的规划的设计</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而是紧追社区新技术趋势快速落地小而精的实践落地</a:t>
            </a:r>
          </a:p>
        </p:txBody>
      </p:sp>
    </p:spTree>
    <p:extLst>
      <p:ext uri="{BB962C8B-B14F-4D97-AF65-F5344CB8AC3E}">
        <p14:creationId xmlns:p14="http://schemas.microsoft.com/office/powerpoint/2010/main" val="1699032551"/>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6A29F227-F354-436A-ACFB-8AF7B686128E}"/>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a:latin typeface="+mj-ea"/>
                <a:ea typeface="+mj-ea"/>
                <a:cs typeface="+mj-ea"/>
              </a:rPr>
              <a:t>4</a:t>
            </a:r>
            <a:r>
              <a:rPr>
                <a:latin typeface="+mj-ea"/>
                <a:ea typeface="+mj-ea"/>
                <a:cs typeface="+mj-ea"/>
              </a:rPr>
              <a:t>.</a:t>
            </a:r>
            <a:r>
              <a:rPr>
                <a:latin typeface="+mj-ea"/>
                <a:ea typeface="+mj-ea"/>
                <a:cs typeface="+mj-ea"/>
              </a:rPr>
              <a:t>个人对公司业务的建议</a:t>
            </a:r>
          </a:p>
        </p:txBody>
      </p:sp>
      <p:sp>
        <p:nvSpPr>
          <p:cNvPr id="5" name="文本框 4">
            <a:extLst xmlns:a="http://schemas.openxmlformats.org/drawingml/2006/main">
              <a:ext uri="{FF2B5EF4-FFF2-40B4-BE49-F238E27FC236}">
                <a16:creationId xmlns:a16="http://schemas.microsoft.com/office/drawing/2014/main" id="{5B4838E6-1E62-440E-8784-4800E17DFC5F}"/>
              </a:ext>
            </a:extLst>
          </p:cNvPr>
          <p:cNvSpPr>
            <a:spLocks xmlns:a="http://schemas.openxmlformats.org/drawingml/2006/main" noGrp="1"/>
          </p:cNvSpPr>
          <p:nvPr/>
        </p:nvSpPr>
        <p:spPr>
          <a:xfrm xmlns:a="http://schemas.openxmlformats.org/drawingml/2006/main">
            <a:off x="443230" y="2386330"/>
            <a:ext cx="8960485" cy="156845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600">
                <a:solidFill>
                  <a:schemeClr val="tx1">
                    <a:lumMod val="75000"/>
                    <a:lumOff val="25000"/>
                  </a:schemeClr>
                </a:solidFill>
                <a:latin typeface="+mj-ea"/>
                <a:ea typeface="+mj-ea"/>
                <a:cs typeface="+mj-ea"/>
              </a:rPr>
              <a:t>结合当前</a:t>
            </a:r>
            <a:r>
              <a:rPr sz="1600">
                <a:solidFill>
                  <a:schemeClr val="tx1">
                    <a:lumMod val="75000"/>
                    <a:lumOff val="25000"/>
                  </a:schemeClr>
                </a:solidFill>
                <a:latin typeface="+mj-ea"/>
                <a:ea typeface="+mj-ea"/>
                <a:cs typeface="+mj-ea"/>
              </a:rPr>
              <a:t> AI Coding </a:t>
            </a:r>
            <a:r>
              <a:rPr sz="1600">
                <a:solidFill>
                  <a:schemeClr val="tx1">
                    <a:lumMod val="75000"/>
                    <a:lumOff val="25000"/>
                  </a:schemeClr>
                </a:solidFill>
                <a:latin typeface="+mj-ea"/>
                <a:ea typeface="+mj-ea"/>
                <a:cs typeface="+mj-ea"/>
              </a:rPr>
              <a:t>时代的发展趋势，我对自己的职业发展方向有了更清晰的认识。我认为，未来技术岗位的核心竞争力将不再局限于单一职能能力，而是更强调技术深度、业务理解、跨领域协同以及借助</a:t>
            </a:r>
            <a:r>
              <a:rPr sz="1600">
                <a:solidFill>
                  <a:schemeClr val="tx1">
                    <a:lumMod val="75000"/>
                    <a:lumOff val="25000"/>
                  </a:schemeClr>
                </a:solidFill>
                <a:latin typeface="+mj-ea"/>
                <a:ea typeface="+mj-ea"/>
                <a:cs typeface="+mj-ea"/>
              </a:rPr>
              <a:t> AI </a:t>
            </a:r>
            <a:r>
              <a:rPr sz="1600">
                <a:solidFill>
                  <a:schemeClr val="tx1">
                    <a:lumMod val="75000"/>
                    <a:lumOff val="25000"/>
                  </a:schemeClr>
                </a:solidFill>
                <a:latin typeface="+mj-ea"/>
                <a:ea typeface="+mj-ea"/>
                <a:cs typeface="+mj-ea"/>
              </a:rPr>
              <a:t>工具提升交付效率的综合能力。基于这一判断，我未来的发展目标，是在持续夯实前端架构与团队管理能力的基础上，进一步提升全栈开发能力、</a:t>
            </a:r>
            <a:r>
              <a:rPr sz="1600">
                <a:solidFill>
                  <a:schemeClr val="tx1">
                    <a:lumMod val="75000"/>
                    <a:lumOff val="25000"/>
                  </a:schemeClr>
                </a:solidFill>
                <a:latin typeface="+mj-ea"/>
                <a:ea typeface="+mj-ea"/>
                <a:cs typeface="+mj-ea"/>
              </a:rPr>
              <a:t>AI </a:t>
            </a:r>
            <a:r>
              <a:rPr sz="1600">
                <a:solidFill>
                  <a:schemeClr val="tx1">
                    <a:lumMod val="75000"/>
                    <a:lumOff val="25000"/>
                  </a:schemeClr>
                </a:solidFill>
                <a:latin typeface="+mj-ea"/>
                <a:ea typeface="+mj-ea"/>
                <a:cs typeface="+mj-ea"/>
              </a:rPr>
              <a:t>应用开发能力以及产品和业务理解能力，推动自己从前端架构与团队负责人，逐步成长为能够支撑复杂业务、推动智能化产品落地的综合型技术骨干。</a:t>
            </a:r>
          </a:p>
        </p:txBody>
      </p:sp>
      <p:sp>
        <p:nvSpPr>
          <p:cNvPr id="9" name="文本框 8">
            <a:extLst xmlns:a="http://schemas.openxmlformats.org/drawingml/2006/main">
              <a:ext uri="{FF2B5EF4-FFF2-40B4-BE49-F238E27FC236}">
                <a16:creationId xmlns:a16="http://schemas.microsoft.com/office/drawing/2014/main" id="{3E38D429-91E7-4283-9AC0-7068ADF20B76}"/>
              </a:ext>
            </a:extLst>
          </p:cNvPr>
          <p:cNvSpPr>
            <a:spLocks xmlns:a="http://schemas.openxmlformats.org/drawingml/2006/main" noGrp="1"/>
          </p:cNvSpPr>
          <p:nvPr/>
        </p:nvSpPr>
        <p:spPr>
          <a:xfrm xmlns:a="http://schemas.openxmlformats.org/drawingml/2006/main">
            <a:off x="443230" y="1718310"/>
            <a:ext cx="5826125"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a:solidFill>
                  <a:schemeClr val="accent1"/>
                </a:solidFill>
                <a:latin typeface="+mj-ea"/>
                <a:ea typeface="+mj-ea"/>
                <a:cs typeface="+mj-ea"/>
              </a:rPr>
              <a:t>二</a:t>
            </a:r>
            <a:r>
              <a:rPr sz="2400">
                <a:solidFill>
                  <a:schemeClr val="accent1"/>
                </a:solidFill>
                <a:latin typeface="+mj-ea"/>
                <a:ea typeface="+mj-ea"/>
                <a:cs typeface="+mj-ea"/>
              </a:rPr>
              <a:t>. </a:t>
            </a:r>
            <a:r>
              <a:rPr sz="2400">
                <a:solidFill>
                  <a:schemeClr val="accent1"/>
                </a:solidFill>
                <a:latin typeface="+mj-ea"/>
                <a:ea typeface="+mj-ea"/>
                <a:cs typeface="+mj-ea"/>
              </a:rPr>
              <a:t>个人职业</a:t>
            </a:r>
            <a:r>
              <a:rPr sz="2400">
                <a:solidFill>
                  <a:schemeClr val="accent1"/>
                </a:solidFill>
                <a:latin typeface="+mj-ea"/>
                <a:ea typeface="+mj-ea"/>
                <a:cs typeface="+mj-ea"/>
              </a:rPr>
              <a:t>规划</a:t>
            </a:r>
          </a:p>
        </p:txBody>
      </p:sp>
    </p:spTree>
    <p:extLst>
      <p:ext uri="{BB962C8B-B14F-4D97-AF65-F5344CB8AC3E}">
        <p14:creationId xmlns:p14="http://schemas.microsoft.com/office/powerpoint/2010/main" val="186957670"/>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13" name="标题 12">
            <a:extLst xmlns:a="http://schemas.openxmlformats.org/drawingml/2006/main">
              <a:ext uri="{FF2B5EF4-FFF2-40B4-BE49-F238E27FC236}">
                <a16:creationId xmlns:a16="http://schemas.microsoft.com/office/drawing/2014/main" id="{4DA95EBD-F84B-443F-A5C3-CEEE9FFA1E2A}"/>
              </a:ext>
            </a:extLst>
          </p:cNvPr>
          <p:cNvSpPr>
            <a:spLocks xmlns:a="http://schemas.openxmlformats.org/drawingml/2006/main" noGrp="1"/>
          </p:cNvSpPr>
          <p:nvPr>
            <p:ph type="ctrTitle" idx="0"/>
          </p:nvPr>
        </p:nvSpPr>
        <p:spPr/>
        <p:txBody>
          <a:bodyPr xmlns:a="http://schemas.openxmlformats.org/drawingml/2006/main"/>
          <a:lstStyle xmlns:a="http://schemas.openxmlformats.org/drawingml/2006/main"/>
          <a:p xmlns:a="http://schemas.openxmlformats.org/drawingml/2006/main">
            <a:r>
              <a:rPr b="1">
                <a:latin typeface="微软雅黑"/>
                <a:ea typeface="微软雅黑"/>
                <a:cs typeface="微软雅黑"/>
              </a:rPr>
              <a:t>Thanks</a:t>
            </a:r>
          </a:p>
        </p:txBody>
      </p:sp>
    </p:spTree>
    <p:extLst>
      <p:ext uri="{BB962C8B-B14F-4D97-AF65-F5344CB8AC3E}">
        <p14:creationId xmlns:p14="http://schemas.microsoft.com/office/powerpoint/2010/main" val="1735336721"/>
      </p:ext>
    </p:extLst>
  </p:cSld>
</p:sld>
</file>

<file path=ppt/theme/theme1.xml><?xml version="1.0" encoding="utf-8"?>
<a:theme xmlns:a="http://schemas.openxmlformats.org/drawingml/2006/main" name="Gientech">
  <a:themeElements>
    <a:clrScheme name="Gientech">
      <a:dk1>
        <a:srgbClr val="000000"/>
      </a:dk1>
      <a:lt1>
        <a:srgbClr val="FFFFFF"/>
      </a:lt1>
      <a:dk2>
        <a:srgbClr val="778495"/>
      </a:dk2>
      <a:lt2>
        <a:srgbClr val="F0F0F0"/>
      </a:lt2>
      <a:accent1>
        <a:srgbClr val="1B4593"/>
      </a:accent1>
      <a:accent2>
        <a:srgbClr val="266DE7"/>
      </a:accent2>
      <a:accent3>
        <a:srgbClr val="048AE3"/>
      </a:accent3>
      <a:accent4>
        <a:srgbClr val="00D3E4"/>
      </a:accent4>
      <a:accent5>
        <a:srgbClr val="0C2864"/>
      </a:accent5>
      <a:accent6>
        <a:srgbClr val="DF203C"/>
      </a:accent6>
      <a:hlink>
        <a:srgbClr val="046EA4"/>
      </a:hlink>
      <a:folHlink>
        <a:srgbClr val="BFBFBF"/>
      </a:folHlink>
    </a:clrScheme>
    <a:fontScheme name="Office">
      <a:majorFont>
        <a:latin typeface="Calibri Light"/>
        <a:ea typeface="Calibri Light"/>
        <a:cs typeface="Calibri Light"/>
      </a:majorFont>
      <a:minorFont>
        <a:latin typeface="Calibri"/>
        <a:ea typeface="Calibri"/>
        <a:cs typeface="Calibri"/>
      </a:minorFont>
    </a:fontScheme>
    <a:fmtScheme name="Gientech">
      <a:fillStyleLst>
        <a:solidFill>
          <a:schemeClr val="phClr"/>
        </a:solidFill>
        <a:solidFill>
          <a:schemeClr val="dk1"/>
        </a:solidFill>
        <a:solidFill>
          <a:schemeClr val="accent1"/>
        </a:soli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2026-04-17T17:46:26.3780000Z</dcterms:created>
  <dcterms:modified xsi:type="dcterms:W3CDTF">2026-04-17T17:46:26.3780000Z</dcterms:modified>
</coreProperties>
</file>